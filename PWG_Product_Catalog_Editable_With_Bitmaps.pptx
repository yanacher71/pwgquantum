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7552944" cy="603504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1143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PHONONIC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WAVEGUIDES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70048" y="164592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52928" y="219456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PHONONIC CABLES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448056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PRODUCT CATALOG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87568" y="164592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201168"/>
            <a:ext cx="320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99632" y="246888"/>
            <a:ext cx="11704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PERFORMANCE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877824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PRECISION. PURITY. PERFORMANCE.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" y="1097280"/>
            <a:ext cx="2011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cable platforms for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signal environments.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ultra-low thermal load,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signal integrity, and reliable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from 300 K down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mK.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1938528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READY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084832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performance from 300 K down to 10 mK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201168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2368296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2514600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minimal attenuation and phase noise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201168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98064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 OPTIONS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944368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optimized for reduced triboelectric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mechanically induced electrical noise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201168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3227832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NON-MAGNETIC OPTION (NM)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6928" y="3374136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for magnetically sensitive environments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01168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928" y="3657600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ENGINEERING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3803904"/>
            <a:ext cx="1600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impedance control and dimensional tolerance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2450592" y="868680"/>
            <a:ext cx="0" cy="246888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859536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23744" y="1078992"/>
            <a:ext cx="15727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FLEX C1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15184" y="1280160"/>
            <a:ext cx="13898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Reliable. Versatile. Proven.</a:t>
            </a:r>
            <a:endParaRPr lang="en-US" sz="800" dirty="0"/>
          </a:p>
        </p:txBody>
      </p:sp>
      <p:pic>
        <p:nvPicPr>
          <p:cNvPr id="32" name="Image 0" descr="/mnt/data/cable_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1508760"/>
            <a:ext cx="1618488" cy="10972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2560320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PERFORMANCE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CABLE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843784" y="2999232"/>
            <a:ext cx="9326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– 50+ GHz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mK to 300 K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78808" y="868680"/>
            <a:ext cx="0" cy="246888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51960" y="859536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251960" y="1078992"/>
            <a:ext cx="15727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CABLE P1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343400" y="1280160"/>
            <a:ext cx="13898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performance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demanding systems.</a:t>
            </a:r>
            <a:endParaRPr lang="en-US" sz="800" dirty="0"/>
          </a:p>
        </p:txBody>
      </p:sp>
      <p:pic>
        <p:nvPicPr>
          <p:cNvPr id="39" name="Image 1" descr="/mnt/data/cable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508760"/>
            <a:ext cx="1618488" cy="109728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288536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PERFORMANCE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CABLE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572000" y="2999232"/>
            <a:ext cx="9326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– 50+ GHz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mK to 300 K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916168" y="868680"/>
            <a:ext cx="0" cy="246888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89320" y="859536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1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PWG-X1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5989320" y="1078992"/>
            <a:ext cx="15727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D1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CABLE X1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6080760" y="1280160"/>
            <a:ext cx="13898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the most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challenging applications.</a:t>
            </a:r>
            <a:endParaRPr lang="en-US" sz="800" dirty="0"/>
          </a:p>
        </p:txBody>
      </p:sp>
      <p:pic>
        <p:nvPicPr>
          <p:cNvPr id="46" name="Image 2" descr="/mnt/data/cable_x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508760"/>
            <a:ext cx="1618488" cy="109728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025896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1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ADVANCED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D1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CABLE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6309360" y="2999232"/>
            <a:ext cx="9326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– 50+ GHz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mK to 300 K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7653528" y="868680"/>
            <a:ext cx="0" cy="246888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487168" y="3383280"/>
            <a:ext cx="5175504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606040" y="3493008"/>
            <a:ext cx="4709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840480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NUMBER SCHEME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2670048" y="3547872"/>
            <a:ext cx="4526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  -   [ARCH]   -    [WC]    -     [OD]     -    [TERM]    -    [LEN]    -    [-NM]    -    [-LN]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2615184" y="3840480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Technology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Family</a:t>
            </a:r>
            <a:endParaRPr lang="en-US" sz="620" dirty="0"/>
          </a:p>
        </p:txBody>
      </p:sp>
      <p:sp>
        <p:nvSpPr>
          <p:cNvPr id="55" name="Text 50"/>
          <p:cNvSpPr/>
          <p:nvPr/>
        </p:nvSpPr>
        <p:spPr>
          <a:xfrm>
            <a:off x="3369564" y="3840480"/>
            <a:ext cx="594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C1, P1, X1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20" dirty="0"/>
          </a:p>
        </p:txBody>
      </p:sp>
      <p:sp>
        <p:nvSpPr>
          <p:cNvPr id="56" name="Text 51"/>
          <p:cNvSpPr/>
          <p:nvPr/>
        </p:nvSpPr>
        <p:spPr>
          <a:xfrm>
            <a:off x="3986784" y="3840480"/>
            <a:ext cx="7498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Diameter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(inch, 4 digits)</a:t>
            </a:r>
            <a:endParaRPr lang="en-US" sz="620" dirty="0"/>
          </a:p>
        </p:txBody>
      </p:sp>
      <p:sp>
        <p:nvSpPr>
          <p:cNvPr id="57" name="Text 52"/>
          <p:cNvSpPr/>
          <p:nvPr/>
        </p:nvSpPr>
        <p:spPr>
          <a:xfrm>
            <a:off x="4759452" y="3840480"/>
            <a:ext cx="594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table)</a:t>
            </a:r>
            <a:endParaRPr lang="en-US" sz="620" dirty="0"/>
          </a:p>
        </p:txBody>
      </p:sp>
      <p:sp>
        <p:nvSpPr>
          <p:cNvPr id="58" name="Text 53"/>
          <p:cNvSpPr/>
          <p:nvPr/>
        </p:nvSpPr>
        <p:spPr>
          <a:xfrm>
            <a:off x="5376672" y="3840480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in mm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digits)</a:t>
            </a:r>
            <a:endParaRPr lang="en-US" sz="620" dirty="0"/>
          </a:p>
        </p:txBody>
      </p:sp>
      <p:sp>
        <p:nvSpPr>
          <p:cNvPr id="59" name="Text 54"/>
          <p:cNvSpPr/>
          <p:nvPr/>
        </p:nvSpPr>
        <p:spPr>
          <a:xfrm>
            <a:off x="6021324" y="3840480"/>
            <a:ext cx="585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Non-Magnetic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620" dirty="0"/>
          </a:p>
        </p:txBody>
      </p:sp>
      <p:sp>
        <p:nvSpPr>
          <p:cNvPr id="60" name="Text 55"/>
          <p:cNvSpPr/>
          <p:nvPr/>
        </p:nvSpPr>
        <p:spPr>
          <a:xfrm>
            <a:off x="6629400" y="3840480"/>
            <a:ext cx="512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620" dirty="0"/>
          </a:p>
        </p:txBody>
      </p:sp>
      <p:sp>
        <p:nvSpPr>
          <p:cNvPr id="61" name="Shape 56"/>
          <p:cNvSpPr/>
          <p:nvPr/>
        </p:nvSpPr>
        <p:spPr>
          <a:xfrm>
            <a:off x="201168" y="4206240"/>
            <a:ext cx="1783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256032" y="4279392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OPTIONS (TERM)</a:t>
            </a:r>
            <a:endParaRPr lang="en-US" sz="850" dirty="0"/>
          </a:p>
        </p:txBody>
      </p:sp>
      <p:pic>
        <p:nvPicPr>
          <p:cNvPr id="63" name="Image 3" descr="/mnt/data/conn_sm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4526280"/>
            <a:ext cx="667512" cy="365760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1042416" y="4544568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1042416" y="4700016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(male)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ends</a:t>
            </a:r>
            <a:endParaRPr lang="en-US" sz="640" dirty="0"/>
          </a:p>
        </p:txBody>
      </p:sp>
      <p:pic>
        <p:nvPicPr>
          <p:cNvPr id="66" name="Image 4" descr="/mnt/data/conn_smp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5093208"/>
            <a:ext cx="667512" cy="365760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1042416" y="5111496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SMPM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1042416" y="5266944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SMPM (male)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ends</a:t>
            </a:r>
            <a:endParaRPr lang="en-US" sz="640" dirty="0"/>
          </a:p>
        </p:txBody>
      </p:sp>
      <p:pic>
        <p:nvPicPr>
          <p:cNvPr id="69" name="Image 5" descr="/mnt/data/conn_ws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5660136"/>
            <a:ext cx="667512" cy="365760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1042416" y="5678424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</a:t>
            </a:r>
            <a:endParaRPr lang="en-US" sz="800" dirty="0"/>
          </a:p>
        </p:txBody>
      </p:sp>
      <p:sp>
        <p:nvSpPr>
          <p:cNvPr id="71" name="Text 63"/>
          <p:cNvSpPr/>
          <p:nvPr/>
        </p:nvSpPr>
        <p:spPr>
          <a:xfrm>
            <a:off x="1042416" y="5833872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 (male)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ends</a:t>
            </a:r>
            <a:endParaRPr lang="en-US" sz="640" dirty="0"/>
          </a:p>
        </p:txBody>
      </p:sp>
      <p:pic>
        <p:nvPicPr>
          <p:cNvPr id="72" name="Image 6" descr="/mnt/data/conn_mix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" y="6227064"/>
            <a:ext cx="667512" cy="36576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042416" y="6245352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800" dirty="0"/>
          </a:p>
        </p:txBody>
      </p:sp>
      <p:sp>
        <p:nvSpPr>
          <p:cNvPr id="74" name="Text 65"/>
          <p:cNvSpPr/>
          <p:nvPr/>
        </p:nvSpPr>
        <p:spPr>
          <a:xfrm>
            <a:off x="1042416" y="6400800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SMAM/WSMP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connectors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each end</a:t>
            </a:r>
            <a:endParaRPr lang="en-US" sz="640" dirty="0"/>
          </a:p>
        </p:txBody>
      </p:sp>
      <p:pic>
        <p:nvPicPr>
          <p:cNvPr id="75" name="Image 7" descr="/mnt/data/reel_ra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" y="6793992"/>
            <a:ext cx="667512" cy="365760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1042416" y="6812280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800" dirty="0"/>
          </a:p>
        </p:txBody>
      </p:sp>
      <p:sp>
        <p:nvSpPr>
          <p:cNvPr id="77" name="Text 67"/>
          <p:cNvSpPr/>
          <p:nvPr/>
        </p:nvSpPr>
        <p:spPr>
          <a:xfrm>
            <a:off x="1042416" y="6967728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Unterminated cable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(reel or cut length)</a:t>
            </a:r>
            <a:endParaRPr lang="en-US" sz="640" dirty="0"/>
          </a:p>
        </p:txBody>
      </p:sp>
      <p:sp>
        <p:nvSpPr>
          <p:cNvPr id="78" name="Shape 68"/>
          <p:cNvSpPr/>
          <p:nvPr/>
        </p:nvSpPr>
        <p:spPr>
          <a:xfrm>
            <a:off x="201168" y="7516368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79" name="Text 69"/>
          <p:cNvSpPr/>
          <p:nvPr/>
        </p:nvSpPr>
        <p:spPr>
          <a:xfrm>
            <a:off x="256032" y="7580376"/>
            <a:ext cx="1005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KEY</a:t>
            </a:r>
            <a:endParaRPr lang="en-US" sz="800" dirty="0"/>
          </a:p>
        </p:txBody>
      </p:sp>
      <p:sp>
        <p:nvSpPr>
          <p:cNvPr id="80" name="Text 70"/>
          <p:cNvSpPr/>
          <p:nvPr/>
        </p:nvSpPr>
        <p:spPr>
          <a:xfrm>
            <a:off x="274320" y="7772400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</a:t>
            </a:r>
            <a:endParaRPr lang="en-US" sz="650" dirty="0"/>
          </a:p>
        </p:txBody>
      </p:sp>
      <p:sp>
        <p:nvSpPr>
          <p:cNvPr id="81" name="Text 71"/>
          <p:cNvSpPr/>
          <p:nvPr/>
        </p:nvSpPr>
        <p:spPr>
          <a:xfrm>
            <a:off x="502920" y="7754112"/>
            <a:ext cx="1325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Non-Magnetic: Qualified non-magnetic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for magnetically sensitive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environments.</a:t>
            </a:r>
            <a:endParaRPr lang="en-US" sz="580" dirty="0"/>
          </a:p>
        </p:txBody>
      </p:sp>
      <p:sp>
        <p:nvSpPr>
          <p:cNvPr id="82" name="Text 72"/>
          <p:cNvSpPr/>
          <p:nvPr/>
        </p:nvSpPr>
        <p:spPr>
          <a:xfrm>
            <a:off x="274320" y="8028432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650" dirty="0"/>
          </a:p>
        </p:txBody>
      </p:sp>
      <p:sp>
        <p:nvSpPr>
          <p:cNvPr id="83" name="Text 73"/>
          <p:cNvSpPr/>
          <p:nvPr/>
        </p:nvSpPr>
        <p:spPr>
          <a:xfrm>
            <a:off x="502920" y="8001000"/>
            <a:ext cx="1325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Low-Noise: Construction optimized for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triboelectric and mechanically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induced electrical noise; internal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treatment/process not disclosed.</a:t>
            </a:r>
            <a:endParaRPr lang="en-US" sz="580" dirty="0"/>
          </a:p>
        </p:txBody>
      </p:sp>
      <p:sp>
        <p:nvSpPr>
          <p:cNvPr id="84" name="Text 74"/>
          <p:cNvSpPr/>
          <p:nvPr/>
        </p:nvSpPr>
        <p:spPr>
          <a:xfrm>
            <a:off x="2103120" y="4169664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PRODUCT LINEUP</a:t>
            </a:r>
            <a:endParaRPr lang="en-US" sz="950" dirty="0"/>
          </a:p>
        </p:txBody>
      </p:sp>
      <p:sp>
        <p:nvSpPr>
          <p:cNvPr id="85" name="Shape 75"/>
          <p:cNvSpPr/>
          <p:nvPr/>
        </p:nvSpPr>
        <p:spPr>
          <a:xfrm>
            <a:off x="2084832" y="4370832"/>
            <a:ext cx="1252728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2103120" y="4443984"/>
            <a:ext cx="121615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NUMBER</a:t>
            </a:r>
            <a:endParaRPr lang="en-US" sz="580" dirty="0"/>
          </a:p>
        </p:txBody>
      </p:sp>
      <p:sp>
        <p:nvSpPr>
          <p:cNvPr id="87" name="Shape 77"/>
          <p:cNvSpPr/>
          <p:nvPr/>
        </p:nvSpPr>
        <p:spPr>
          <a:xfrm>
            <a:off x="3337560" y="4370832"/>
            <a:ext cx="402336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88" name="Text 78"/>
          <p:cNvSpPr/>
          <p:nvPr/>
        </p:nvSpPr>
        <p:spPr>
          <a:xfrm>
            <a:off x="3355848" y="4443984"/>
            <a:ext cx="3657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</a:t>
            </a:r>
            <a:endParaRPr lang="en-US" sz="580" dirty="0"/>
          </a:p>
        </p:txBody>
      </p:sp>
      <p:sp>
        <p:nvSpPr>
          <p:cNvPr id="89" name="Shape 79"/>
          <p:cNvSpPr/>
          <p:nvPr/>
        </p:nvSpPr>
        <p:spPr>
          <a:xfrm>
            <a:off x="3739896" y="4370832"/>
            <a:ext cx="411480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3758184" y="4443984"/>
            <a:ext cx="37490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(inch)</a:t>
            </a:r>
            <a:endParaRPr lang="en-US" sz="580" dirty="0"/>
          </a:p>
        </p:txBody>
      </p:sp>
      <p:sp>
        <p:nvSpPr>
          <p:cNvPr id="91" name="Shape 81"/>
          <p:cNvSpPr/>
          <p:nvPr/>
        </p:nvSpPr>
        <p:spPr>
          <a:xfrm>
            <a:off x="4151376" y="4370832"/>
            <a:ext cx="438912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92" name="Text 82"/>
          <p:cNvSpPr/>
          <p:nvPr/>
        </p:nvSpPr>
        <p:spPr>
          <a:xfrm>
            <a:off x="4169664" y="4443984"/>
            <a:ext cx="40233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580" dirty="0"/>
          </a:p>
        </p:txBody>
      </p:sp>
      <p:sp>
        <p:nvSpPr>
          <p:cNvPr id="93" name="Shape 83"/>
          <p:cNvSpPr/>
          <p:nvPr/>
        </p:nvSpPr>
        <p:spPr>
          <a:xfrm>
            <a:off x="4590288" y="4370832"/>
            <a:ext cx="493776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94" name="Text 84"/>
          <p:cNvSpPr/>
          <p:nvPr/>
        </p:nvSpPr>
        <p:spPr>
          <a:xfrm>
            <a:off x="4608576" y="4443984"/>
            <a:ext cx="4572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(mm)</a:t>
            </a:r>
            <a:endParaRPr lang="en-US" sz="580" dirty="0"/>
          </a:p>
        </p:txBody>
      </p:sp>
      <p:sp>
        <p:nvSpPr>
          <p:cNvPr id="95" name="Shape 85"/>
          <p:cNvSpPr/>
          <p:nvPr/>
        </p:nvSpPr>
        <p:spPr>
          <a:xfrm>
            <a:off x="5084064" y="4370832"/>
            <a:ext cx="576072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96" name="Text 86"/>
          <p:cNvSpPr/>
          <p:nvPr/>
        </p:nvSpPr>
        <p:spPr>
          <a:xfrm>
            <a:off x="5102352" y="4443984"/>
            <a:ext cx="53949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580" dirty="0"/>
          </a:p>
        </p:txBody>
      </p:sp>
      <p:sp>
        <p:nvSpPr>
          <p:cNvPr id="97" name="Shape 87"/>
          <p:cNvSpPr/>
          <p:nvPr/>
        </p:nvSpPr>
        <p:spPr>
          <a:xfrm>
            <a:off x="5660136" y="4370832"/>
            <a:ext cx="777240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98" name="Text 88"/>
          <p:cNvSpPr/>
          <p:nvPr/>
        </p:nvSpPr>
        <p:spPr>
          <a:xfrm>
            <a:off x="5678424" y="4443984"/>
            <a:ext cx="74066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80" dirty="0"/>
          </a:p>
        </p:txBody>
      </p:sp>
      <p:sp>
        <p:nvSpPr>
          <p:cNvPr id="99" name="Shape 89"/>
          <p:cNvSpPr/>
          <p:nvPr/>
        </p:nvSpPr>
        <p:spPr>
          <a:xfrm>
            <a:off x="6437376" y="4370832"/>
            <a:ext cx="1225296" cy="292608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6455664" y="4443984"/>
            <a:ext cx="118872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580" dirty="0"/>
          </a:p>
        </p:txBody>
      </p:sp>
      <p:sp>
        <p:nvSpPr>
          <p:cNvPr id="101" name="Shape 91"/>
          <p:cNvSpPr/>
          <p:nvPr/>
        </p:nvSpPr>
        <p:spPr>
          <a:xfrm>
            <a:off x="2084832" y="4663440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2" name="Text 92"/>
          <p:cNvSpPr/>
          <p:nvPr/>
        </p:nvSpPr>
        <p:spPr>
          <a:xfrm>
            <a:off x="2103120" y="4690872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PWG-C1-0047-SMAM-0300</a:t>
            </a:r>
            <a:endParaRPr lang="en-US" sz="535" dirty="0"/>
          </a:p>
        </p:txBody>
      </p:sp>
      <p:sp>
        <p:nvSpPr>
          <p:cNvPr id="103" name="Shape 93"/>
          <p:cNvSpPr/>
          <p:nvPr/>
        </p:nvSpPr>
        <p:spPr>
          <a:xfrm>
            <a:off x="3337560" y="4663440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4" name="Text 94"/>
          <p:cNvSpPr/>
          <p:nvPr/>
        </p:nvSpPr>
        <p:spPr>
          <a:xfrm>
            <a:off x="3355848" y="4690872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05" name="Shape 95"/>
          <p:cNvSpPr/>
          <p:nvPr/>
        </p:nvSpPr>
        <p:spPr>
          <a:xfrm>
            <a:off x="3739896" y="4663440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6" name="Text 96"/>
          <p:cNvSpPr/>
          <p:nvPr/>
        </p:nvSpPr>
        <p:spPr>
          <a:xfrm>
            <a:off x="3758184" y="4690872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07" name="Shape 97"/>
          <p:cNvSpPr/>
          <p:nvPr/>
        </p:nvSpPr>
        <p:spPr>
          <a:xfrm>
            <a:off x="4151376" y="4663440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8" name="Text 98"/>
          <p:cNvSpPr/>
          <p:nvPr/>
        </p:nvSpPr>
        <p:spPr>
          <a:xfrm>
            <a:off x="4169664" y="4690872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09" name="Shape 99"/>
          <p:cNvSpPr/>
          <p:nvPr/>
        </p:nvSpPr>
        <p:spPr>
          <a:xfrm>
            <a:off x="4590288" y="4663440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4608576" y="4690872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111" name="Shape 101"/>
          <p:cNvSpPr/>
          <p:nvPr/>
        </p:nvSpPr>
        <p:spPr>
          <a:xfrm>
            <a:off x="5084064" y="4663440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2" name="Text 102"/>
          <p:cNvSpPr/>
          <p:nvPr/>
        </p:nvSpPr>
        <p:spPr>
          <a:xfrm>
            <a:off x="5102352" y="4690872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113" name="Shape 103"/>
          <p:cNvSpPr/>
          <p:nvPr/>
        </p:nvSpPr>
        <p:spPr>
          <a:xfrm>
            <a:off x="5660136" y="4663440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4" name="Text 104"/>
          <p:cNvSpPr/>
          <p:nvPr/>
        </p:nvSpPr>
        <p:spPr>
          <a:xfrm>
            <a:off x="5678424" y="4690872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</a:t>
            </a:r>
            <a:endParaRPr lang="en-US" sz="535" dirty="0"/>
          </a:p>
        </p:txBody>
      </p:sp>
      <p:sp>
        <p:nvSpPr>
          <p:cNvPr id="115" name="Shape 105"/>
          <p:cNvSpPr/>
          <p:nvPr/>
        </p:nvSpPr>
        <p:spPr>
          <a:xfrm>
            <a:off x="6437376" y="4663440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6" name="Text 106"/>
          <p:cNvSpPr/>
          <p:nvPr/>
        </p:nvSpPr>
        <p:spPr>
          <a:xfrm>
            <a:off x="6455664" y="4690872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product</a:t>
            </a:r>
            <a:endParaRPr lang="en-US" sz="535" dirty="0"/>
          </a:p>
        </p:txBody>
      </p:sp>
      <p:sp>
        <p:nvSpPr>
          <p:cNvPr id="117" name="Shape 107"/>
          <p:cNvSpPr/>
          <p:nvPr/>
        </p:nvSpPr>
        <p:spPr>
          <a:xfrm>
            <a:off x="2084832" y="4809744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8" name="Text 108"/>
          <p:cNvSpPr/>
          <p:nvPr/>
        </p:nvSpPr>
        <p:spPr>
          <a:xfrm>
            <a:off x="2103120" y="4837176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PWG-C1-0047-SMAM-0300-LN</a:t>
            </a:r>
            <a:endParaRPr lang="en-US" sz="535" dirty="0"/>
          </a:p>
        </p:txBody>
      </p:sp>
      <p:sp>
        <p:nvSpPr>
          <p:cNvPr id="119" name="Shape 109"/>
          <p:cNvSpPr/>
          <p:nvPr/>
        </p:nvSpPr>
        <p:spPr>
          <a:xfrm>
            <a:off x="3337560" y="4809744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3355848" y="4837176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21" name="Shape 111"/>
          <p:cNvSpPr/>
          <p:nvPr/>
        </p:nvSpPr>
        <p:spPr>
          <a:xfrm>
            <a:off x="3739896" y="4809744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2" name="Text 112"/>
          <p:cNvSpPr/>
          <p:nvPr/>
        </p:nvSpPr>
        <p:spPr>
          <a:xfrm>
            <a:off x="3758184" y="4837176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23" name="Shape 113"/>
          <p:cNvSpPr/>
          <p:nvPr/>
        </p:nvSpPr>
        <p:spPr>
          <a:xfrm>
            <a:off x="4151376" y="4809744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4" name="Text 114"/>
          <p:cNvSpPr/>
          <p:nvPr/>
        </p:nvSpPr>
        <p:spPr>
          <a:xfrm>
            <a:off x="4169664" y="4837176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25" name="Shape 115"/>
          <p:cNvSpPr/>
          <p:nvPr/>
        </p:nvSpPr>
        <p:spPr>
          <a:xfrm>
            <a:off x="4590288" y="4809744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6" name="Text 116"/>
          <p:cNvSpPr/>
          <p:nvPr/>
        </p:nvSpPr>
        <p:spPr>
          <a:xfrm>
            <a:off x="4608576" y="4837176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127" name="Shape 117"/>
          <p:cNvSpPr/>
          <p:nvPr/>
        </p:nvSpPr>
        <p:spPr>
          <a:xfrm>
            <a:off x="5084064" y="4809744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8" name="Text 118"/>
          <p:cNvSpPr/>
          <p:nvPr/>
        </p:nvSpPr>
        <p:spPr>
          <a:xfrm>
            <a:off x="5102352" y="4837176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535" dirty="0"/>
          </a:p>
        </p:txBody>
      </p:sp>
      <p:sp>
        <p:nvSpPr>
          <p:cNvPr id="129" name="Shape 119"/>
          <p:cNvSpPr/>
          <p:nvPr/>
        </p:nvSpPr>
        <p:spPr>
          <a:xfrm>
            <a:off x="5660136" y="4809744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0" name="Text 120"/>
          <p:cNvSpPr/>
          <p:nvPr/>
        </p:nvSpPr>
        <p:spPr>
          <a:xfrm>
            <a:off x="5678424" y="4837176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131" name="Shape 121"/>
          <p:cNvSpPr/>
          <p:nvPr/>
        </p:nvSpPr>
        <p:spPr>
          <a:xfrm>
            <a:off x="6437376" y="4809744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2" name="Text 122"/>
          <p:cNvSpPr/>
          <p:nvPr/>
        </p:nvSpPr>
        <p:spPr>
          <a:xfrm>
            <a:off x="6455664" y="4837176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 option</a:t>
            </a:r>
            <a:endParaRPr lang="en-US" sz="535" dirty="0"/>
          </a:p>
        </p:txBody>
      </p:sp>
      <p:sp>
        <p:nvSpPr>
          <p:cNvPr id="133" name="Shape 123"/>
          <p:cNvSpPr/>
          <p:nvPr/>
        </p:nvSpPr>
        <p:spPr>
          <a:xfrm>
            <a:off x="2084832" y="4956048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4" name="Text 124"/>
          <p:cNvSpPr/>
          <p:nvPr/>
        </p:nvSpPr>
        <p:spPr>
          <a:xfrm>
            <a:off x="2103120" y="4983480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PWG-C1-0047-SMAM-0300-NM</a:t>
            </a:r>
            <a:endParaRPr lang="en-US" sz="535" dirty="0"/>
          </a:p>
        </p:txBody>
      </p:sp>
      <p:sp>
        <p:nvSpPr>
          <p:cNvPr id="135" name="Shape 125"/>
          <p:cNvSpPr/>
          <p:nvPr/>
        </p:nvSpPr>
        <p:spPr>
          <a:xfrm>
            <a:off x="3337560" y="4956048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6" name="Text 126"/>
          <p:cNvSpPr/>
          <p:nvPr/>
        </p:nvSpPr>
        <p:spPr>
          <a:xfrm>
            <a:off x="3355848" y="4983480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37" name="Shape 127"/>
          <p:cNvSpPr/>
          <p:nvPr/>
        </p:nvSpPr>
        <p:spPr>
          <a:xfrm>
            <a:off x="3739896" y="4956048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8" name="Text 128"/>
          <p:cNvSpPr/>
          <p:nvPr/>
        </p:nvSpPr>
        <p:spPr>
          <a:xfrm>
            <a:off x="3758184" y="4983480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39" name="Shape 129"/>
          <p:cNvSpPr/>
          <p:nvPr/>
        </p:nvSpPr>
        <p:spPr>
          <a:xfrm>
            <a:off x="4151376" y="4956048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4169664" y="4983480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41" name="Shape 131"/>
          <p:cNvSpPr/>
          <p:nvPr/>
        </p:nvSpPr>
        <p:spPr>
          <a:xfrm>
            <a:off x="4590288" y="4956048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2" name="Text 132"/>
          <p:cNvSpPr/>
          <p:nvPr/>
        </p:nvSpPr>
        <p:spPr>
          <a:xfrm>
            <a:off x="4608576" y="498348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143" name="Shape 133"/>
          <p:cNvSpPr/>
          <p:nvPr/>
        </p:nvSpPr>
        <p:spPr>
          <a:xfrm>
            <a:off x="5084064" y="4956048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4" name="Text 134"/>
          <p:cNvSpPr/>
          <p:nvPr/>
        </p:nvSpPr>
        <p:spPr>
          <a:xfrm>
            <a:off x="5102352" y="4983480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</a:t>
            </a:r>
            <a:endParaRPr lang="en-US" sz="535" dirty="0"/>
          </a:p>
        </p:txBody>
      </p:sp>
      <p:sp>
        <p:nvSpPr>
          <p:cNvPr id="145" name="Shape 135"/>
          <p:cNvSpPr/>
          <p:nvPr/>
        </p:nvSpPr>
        <p:spPr>
          <a:xfrm>
            <a:off x="5660136" y="4956048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6" name="Text 136"/>
          <p:cNvSpPr/>
          <p:nvPr/>
        </p:nvSpPr>
        <p:spPr>
          <a:xfrm>
            <a:off x="5678424" y="4983480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147" name="Shape 137"/>
          <p:cNvSpPr/>
          <p:nvPr/>
        </p:nvSpPr>
        <p:spPr>
          <a:xfrm>
            <a:off x="6437376" y="4956048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8" name="Text 138"/>
          <p:cNvSpPr/>
          <p:nvPr/>
        </p:nvSpPr>
        <p:spPr>
          <a:xfrm>
            <a:off x="6455664" y="4983480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Non-magnetic</a:t>
            </a:r>
            <a:endParaRPr lang="en-US" sz="535" dirty="0"/>
          </a:p>
        </p:txBody>
      </p:sp>
      <p:sp>
        <p:nvSpPr>
          <p:cNvPr id="149" name="Shape 139"/>
          <p:cNvSpPr/>
          <p:nvPr/>
        </p:nvSpPr>
        <p:spPr>
          <a:xfrm>
            <a:off x="2084832" y="5102352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0" name="Text 140"/>
          <p:cNvSpPr/>
          <p:nvPr/>
        </p:nvSpPr>
        <p:spPr>
          <a:xfrm>
            <a:off x="2103120" y="5129784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PWG-C1-0047-SMAM-0300-NM-LN</a:t>
            </a:r>
            <a:endParaRPr lang="en-US" sz="535" dirty="0"/>
          </a:p>
        </p:txBody>
      </p:sp>
      <p:sp>
        <p:nvSpPr>
          <p:cNvPr id="151" name="Shape 141"/>
          <p:cNvSpPr/>
          <p:nvPr/>
        </p:nvSpPr>
        <p:spPr>
          <a:xfrm>
            <a:off x="3337560" y="5102352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2" name="Text 142"/>
          <p:cNvSpPr/>
          <p:nvPr/>
        </p:nvSpPr>
        <p:spPr>
          <a:xfrm>
            <a:off x="3355848" y="5129784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53" name="Shape 143"/>
          <p:cNvSpPr/>
          <p:nvPr/>
        </p:nvSpPr>
        <p:spPr>
          <a:xfrm>
            <a:off x="3739896" y="5102352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4" name="Text 144"/>
          <p:cNvSpPr/>
          <p:nvPr/>
        </p:nvSpPr>
        <p:spPr>
          <a:xfrm>
            <a:off x="3758184" y="5129784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55" name="Shape 145"/>
          <p:cNvSpPr/>
          <p:nvPr/>
        </p:nvSpPr>
        <p:spPr>
          <a:xfrm>
            <a:off x="4151376" y="5102352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6" name="Text 146"/>
          <p:cNvSpPr/>
          <p:nvPr/>
        </p:nvSpPr>
        <p:spPr>
          <a:xfrm>
            <a:off x="4169664" y="5129784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57" name="Shape 147"/>
          <p:cNvSpPr/>
          <p:nvPr/>
        </p:nvSpPr>
        <p:spPr>
          <a:xfrm>
            <a:off x="4590288" y="5102352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8" name="Text 148"/>
          <p:cNvSpPr/>
          <p:nvPr/>
        </p:nvSpPr>
        <p:spPr>
          <a:xfrm>
            <a:off x="4608576" y="5129784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159" name="Shape 149"/>
          <p:cNvSpPr/>
          <p:nvPr/>
        </p:nvSpPr>
        <p:spPr>
          <a:xfrm>
            <a:off x="5084064" y="5102352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0" name="Text 150"/>
          <p:cNvSpPr/>
          <p:nvPr/>
        </p:nvSpPr>
        <p:spPr>
          <a:xfrm>
            <a:off x="5102352" y="5129784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 + LN</a:t>
            </a:r>
            <a:endParaRPr lang="en-US" sz="535" dirty="0"/>
          </a:p>
        </p:txBody>
      </p:sp>
      <p:sp>
        <p:nvSpPr>
          <p:cNvPr id="161" name="Shape 151"/>
          <p:cNvSpPr/>
          <p:nvPr/>
        </p:nvSpPr>
        <p:spPr>
          <a:xfrm>
            <a:off x="5660136" y="5102352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5678424" y="5129784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163" name="Shape 153"/>
          <p:cNvSpPr/>
          <p:nvPr/>
        </p:nvSpPr>
        <p:spPr>
          <a:xfrm>
            <a:off x="6437376" y="5102352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6455664" y="5129784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Non-magnetic + low-noise</a:t>
            </a:r>
            <a:endParaRPr lang="en-US" sz="535" dirty="0"/>
          </a:p>
        </p:txBody>
      </p:sp>
      <p:sp>
        <p:nvSpPr>
          <p:cNvPr id="165" name="Shape 155"/>
          <p:cNvSpPr/>
          <p:nvPr/>
        </p:nvSpPr>
        <p:spPr>
          <a:xfrm>
            <a:off x="2084832" y="5248656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2103120" y="5276088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PWG-C1-0047-SMAM-0500</a:t>
            </a:r>
            <a:endParaRPr lang="en-US" sz="535" dirty="0"/>
          </a:p>
        </p:txBody>
      </p:sp>
      <p:sp>
        <p:nvSpPr>
          <p:cNvPr id="167" name="Shape 157"/>
          <p:cNvSpPr/>
          <p:nvPr/>
        </p:nvSpPr>
        <p:spPr>
          <a:xfrm>
            <a:off x="3337560" y="5248656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3355848" y="5276088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69" name="Shape 159"/>
          <p:cNvSpPr/>
          <p:nvPr/>
        </p:nvSpPr>
        <p:spPr>
          <a:xfrm>
            <a:off x="3739896" y="5248656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3758184" y="5276088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71" name="Shape 161"/>
          <p:cNvSpPr/>
          <p:nvPr/>
        </p:nvSpPr>
        <p:spPr>
          <a:xfrm>
            <a:off x="4151376" y="5248656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4169664" y="5276088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73" name="Shape 163"/>
          <p:cNvSpPr/>
          <p:nvPr/>
        </p:nvSpPr>
        <p:spPr>
          <a:xfrm>
            <a:off x="4590288" y="5248656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4608576" y="5276088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535" dirty="0"/>
          </a:p>
        </p:txBody>
      </p:sp>
      <p:sp>
        <p:nvSpPr>
          <p:cNvPr id="175" name="Shape 165"/>
          <p:cNvSpPr/>
          <p:nvPr/>
        </p:nvSpPr>
        <p:spPr>
          <a:xfrm>
            <a:off x="5084064" y="5248656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5102352" y="5276088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177" name="Shape 167"/>
          <p:cNvSpPr/>
          <p:nvPr/>
        </p:nvSpPr>
        <p:spPr>
          <a:xfrm>
            <a:off x="5660136" y="5248656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8" name="Text 168"/>
          <p:cNvSpPr/>
          <p:nvPr/>
        </p:nvSpPr>
        <p:spPr>
          <a:xfrm>
            <a:off x="5678424" y="5276088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179" name="Shape 169"/>
          <p:cNvSpPr/>
          <p:nvPr/>
        </p:nvSpPr>
        <p:spPr>
          <a:xfrm>
            <a:off x="6437376" y="5248656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0" name="Text 170"/>
          <p:cNvSpPr/>
          <p:nvPr/>
        </p:nvSpPr>
        <p:spPr>
          <a:xfrm>
            <a:off x="6455664" y="5276088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length</a:t>
            </a:r>
            <a:endParaRPr lang="en-US" sz="535" dirty="0"/>
          </a:p>
        </p:txBody>
      </p:sp>
      <p:sp>
        <p:nvSpPr>
          <p:cNvPr id="181" name="Shape 171"/>
          <p:cNvSpPr/>
          <p:nvPr/>
        </p:nvSpPr>
        <p:spPr>
          <a:xfrm>
            <a:off x="2084832" y="5394960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2" name="Text 172"/>
          <p:cNvSpPr/>
          <p:nvPr/>
        </p:nvSpPr>
        <p:spPr>
          <a:xfrm>
            <a:off x="2103120" y="5422392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PWG-C1-0047-SMAM-1000</a:t>
            </a:r>
            <a:endParaRPr lang="en-US" sz="535" dirty="0"/>
          </a:p>
        </p:txBody>
      </p:sp>
      <p:sp>
        <p:nvSpPr>
          <p:cNvPr id="183" name="Shape 173"/>
          <p:cNvSpPr/>
          <p:nvPr/>
        </p:nvSpPr>
        <p:spPr>
          <a:xfrm>
            <a:off x="3337560" y="5394960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4" name="Text 174"/>
          <p:cNvSpPr/>
          <p:nvPr/>
        </p:nvSpPr>
        <p:spPr>
          <a:xfrm>
            <a:off x="3355848" y="5422392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185" name="Shape 175"/>
          <p:cNvSpPr/>
          <p:nvPr/>
        </p:nvSpPr>
        <p:spPr>
          <a:xfrm>
            <a:off x="3739896" y="5394960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6" name="Text 176"/>
          <p:cNvSpPr/>
          <p:nvPr/>
        </p:nvSpPr>
        <p:spPr>
          <a:xfrm>
            <a:off x="3758184" y="5422392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187" name="Shape 177"/>
          <p:cNvSpPr/>
          <p:nvPr/>
        </p:nvSpPr>
        <p:spPr>
          <a:xfrm>
            <a:off x="4151376" y="5394960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8" name="Text 178"/>
          <p:cNvSpPr/>
          <p:nvPr/>
        </p:nvSpPr>
        <p:spPr>
          <a:xfrm>
            <a:off x="4169664" y="5422392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189" name="Shape 179"/>
          <p:cNvSpPr/>
          <p:nvPr/>
        </p:nvSpPr>
        <p:spPr>
          <a:xfrm>
            <a:off x="4590288" y="5394960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90" name="Text 180"/>
          <p:cNvSpPr/>
          <p:nvPr/>
        </p:nvSpPr>
        <p:spPr>
          <a:xfrm>
            <a:off x="4608576" y="5422392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535" dirty="0"/>
          </a:p>
        </p:txBody>
      </p:sp>
      <p:sp>
        <p:nvSpPr>
          <p:cNvPr id="191" name="Shape 181"/>
          <p:cNvSpPr/>
          <p:nvPr/>
        </p:nvSpPr>
        <p:spPr>
          <a:xfrm>
            <a:off x="5084064" y="5394960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92" name="Text 182"/>
          <p:cNvSpPr/>
          <p:nvPr/>
        </p:nvSpPr>
        <p:spPr>
          <a:xfrm>
            <a:off x="5102352" y="5422392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193" name="Shape 183"/>
          <p:cNvSpPr/>
          <p:nvPr/>
        </p:nvSpPr>
        <p:spPr>
          <a:xfrm>
            <a:off x="5660136" y="5394960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94" name="Text 184"/>
          <p:cNvSpPr/>
          <p:nvPr/>
        </p:nvSpPr>
        <p:spPr>
          <a:xfrm>
            <a:off x="5678424" y="5422392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195" name="Shape 185"/>
          <p:cNvSpPr/>
          <p:nvPr/>
        </p:nvSpPr>
        <p:spPr>
          <a:xfrm>
            <a:off x="6437376" y="5394960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96" name="Text 186"/>
          <p:cNvSpPr/>
          <p:nvPr/>
        </p:nvSpPr>
        <p:spPr>
          <a:xfrm>
            <a:off x="6455664" y="5422392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length</a:t>
            </a:r>
            <a:endParaRPr lang="en-US" sz="535" dirty="0"/>
          </a:p>
        </p:txBody>
      </p:sp>
      <p:sp>
        <p:nvSpPr>
          <p:cNvPr id="197" name="Shape 187"/>
          <p:cNvSpPr/>
          <p:nvPr/>
        </p:nvSpPr>
        <p:spPr>
          <a:xfrm>
            <a:off x="2084832" y="5541264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98" name="Text 188"/>
          <p:cNvSpPr/>
          <p:nvPr/>
        </p:nvSpPr>
        <p:spPr>
          <a:xfrm>
            <a:off x="2103120" y="5568696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PWG-C1-0047-SMPM-0300</a:t>
            </a:r>
            <a:endParaRPr lang="en-US" sz="535" dirty="0"/>
          </a:p>
        </p:txBody>
      </p:sp>
      <p:sp>
        <p:nvSpPr>
          <p:cNvPr id="199" name="Shape 189"/>
          <p:cNvSpPr/>
          <p:nvPr/>
        </p:nvSpPr>
        <p:spPr>
          <a:xfrm>
            <a:off x="3337560" y="5541264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0" name="Text 190"/>
          <p:cNvSpPr/>
          <p:nvPr/>
        </p:nvSpPr>
        <p:spPr>
          <a:xfrm>
            <a:off x="3355848" y="5568696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201" name="Shape 191"/>
          <p:cNvSpPr/>
          <p:nvPr/>
        </p:nvSpPr>
        <p:spPr>
          <a:xfrm>
            <a:off x="3739896" y="5541264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2" name="Text 192"/>
          <p:cNvSpPr/>
          <p:nvPr/>
        </p:nvSpPr>
        <p:spPr>
          <a:xfrm>
            <a:off x="3758184" y="5568696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203" name="Shape 193"/>
          <p:cNvSpPr/>
          <p:nvPr/>
        </p:nvSpPr>
        <p:spPr>
          <a:xfrm>
            <a:off x="4151376" y="5541264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4" name="Text 194"/>
          <p:cNvSpPr/>
          <p:nvPr/>
        </p:nvSpPr>
        <p:spPr>
          <a:xfrm>
            <a:off x="4169664" y="5568696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SMPM</a:t>
            </a:r>
            <a:endParaRPr lang="en-US" sz="535" dirty="0"/>
          </a:p>
        </p:txBody>
      </p:sp>
      <p:sp>
        <p:nvSpPr>
          <p:cNvPr id="205" name="Shape 195"/>
          <p:cNvSpPr/>
          <p:nvPr/>
        </p:nvSpPr>
        <p:spPr>
          <a:xfrm>
            <a:off x="4590288" y="5541264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6" name="Text 196"/>
          <p:cNvSpPr/>
          <p:nvPr/>
        </p:nvSpPr>
        <p:spPr>
          <a:xfrm>
            <a:off x="4608576" y="5568696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207" name="Shape 197"/>
          <p:cNvSpPr/>
          <p:nvPr/>
        </p:nvSpPr>
        <p:spPr>
          <a:xfrm>
            <a:off x="5084064" y="5541264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8" name="Text 198"/>
          <p:cNvSpPr/>
          <p:nvPr/>
        </p:nvSpPr>
        <p:spPr>
          <a:xfrm>
            <a:off x="5102352" y="5568696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09" name="Shape 199"/>
          <p:cNvSpPr/>
          <p:nvPr/>
        </p:nvSpPr>
        <p:spPr>
          <a:xfrm>
            <a:off x="5660136" y="5541264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0" name="Text 200"/>
          <p:cNvSpPr/>
          <p:nvPr/>
        </p:nvSpPr>
        <p:spPr>
          <a:xfrm>
            <a:off x="5678424" y="5568696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211" name="Shape 201"/>
          <p:cNvSpPr/>
          <p:nvPr/>
        </p:nvSpPr>
        <p:spPr>
          <a:xfrm>
            <a:off x="6437376" y="5541264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2" name="Text 202"/>
          <p:cNvSpPr/>
          <p:nvPr/>
        </p:nvSpPr>
        <p:spPr>
          <a:xfrm>
            <a:off x="6455664" y="5568696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interface</a:t>
            </a:r>
            <a:endParaRPr lang="en-US" sz="535" dirty="0"/>
          </a:p>
        </p:txBody>
      </p:sp>
      <p:sp>
        <p:nvSpPr>
          <p:cNvPr id="213" name="Shape 203"/>
          <p:cNvSpPr/>
          <p:nvPr/>
        </p:nvSpPr>
        <p:spPr>
          <a:xfrm>
            <a:off x="2084832" y="5687568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4" name="Text 204"/>
          <p:cNvSpPr/>
          <p:nvPr/>
        </p:nvSpPr>
        <p:spPr>
          <a:xfrm>
            <a:off x="2103120" y="5715000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PWG-C1-0047-WSMP-0300</a:t>
            </a:r>
            <a:endParaRPr lang="en-US" sz="535" dirty="0"/>
          </a:p>
        </p:txBody>
      </p:sp>
      <p:sp>
        <p:nvSpPr>
          <p:cNvPr id="215" name="Shape 205"/>
          <p:cNvSpPr/>
          <p:nvPr/>
        </p:nvSpPr>
        <p:spPr>
          <a:xfrm>
            <a:off x="3337560" y="5687568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6" name="Text 206"/>
          <p:cNvSpPr/>
          <p:nvPr/>
        </p:nvSpPr>
        <p:spPr>
          <a:xfrm>
            <a:off x="3355848" y="5715000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217" name="Shape 207"/>
          <p:cNvSpPr/>
          <p:nvPr/>
        </p:nvSpPr>
        <p:spPr>
          <a:xfrm>
            <a:off x="3739896" y="5687568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8" name="Text 208"/>
          <p:cNvSpPr/>
          <p:nvPr/>
        </p:nvSpPr>
        <p:spPr>
          <a:xfrm>
            <a:off x="3758184" y="5715000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219" name="Shape 209"/>
          <p:cNvSpPr/>
          <p:nvPr/>
        </p:nvSpPr>
        <p:spPr>
          <a:xfrm>
            <a:off x="4151376" y="5687568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0" name="Text 210"/>
          <p:cNvSpPr/>
          <p:nvPr/>
        </p:nvSpPr>
        <p:spPr>
          <a:xfrm>
            <a:off x="4169664" y="5715000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</a:t>
            </a:r>
            <a:endParaRPr lang="en-US" sz="535" dirty="0"/>
          </a:p>
        </p:txBody>
      </p:sp>
      <p:sp>
        <p:nvSpPr>
          <p:cNvPr id="221" name="Shape 211"/>
          <p:cNvSpPr/>
          <p:nvPr/>
        </p:nvSpPr>
        <p:spPr>
          <a:xfrm>
            <a:off x="4590288" y="5687568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2" name="Text 212"/>
          <p:cNvSpPr/>
          <p:nvPr/>
        </p:nvSpPr>
        <p:spPr>
          <a:xfrm>
            <a:off x="4608576" y="571500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223" name="Shape 213"/>
          <p:cNvSpPr/>
          <p:nvPr/>
        </p:nvSpPr>
        <p:spPr>
          <a:xfrm>
            <a:off x="5084064" y="5687568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4" name="Text 214"/>
          <p:cNvSpPr/>
          <p:nvPr/>
        </p:nvSpPr>
        <p:spPr>
          <a:xfrm>
            <a:off x="5102352" y="5715000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25" name="Shape 215"/>
          <p:cNvSpPr/>
          <p:nvPr/>
        </p:nvSpPr>
        <p:spPr>
          <a:xfrm>
            <a:off x="5660136" y="5687568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6" name="Text 216"/>
          <p:cNvSpPr/>
          <p:nvPr/>
        </p:nvSpPr>
        <p:spPr>
          <a:xfrm>
            <a:off x="5678424" y="5715000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227" name="Shape 217"/>
          <p:cNvSpPr/>
          <p:nvPr/>
        </p:nvSpPr>
        <p:spPr>
          <a:xfrm>
            <a:off x="6437376" y="5687568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8" name="Text 218"/>
          <p:cNvSpPr/>
          <p:nvPr/>
        </p:nvSpPr>
        <p:spPr>
          <a:xfrm>
            <a:off x="6455664" y="5715000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density</a:t>
            </a:r>
            <a:endParaRPr lang="en-US" sz="535" dirty="0"/>
          </a:p>
        </p:txBody>
      </p:sp>
      <p:sp>
        <p:nvSpPr>
          <p:cNvPr id="229" name="Shape 219"/>
          <p:cNvSpPr/>
          <p:nvPr/>
        </p:nvSpPr>
        <p:spPr>
          <a:xfrm>
            <a:off x="2084832" y="5833872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30" name="Text 220"/>
          <p:cNvSpPr/>
          <p:nvPr/>
        </p:nvSpPr>
        <p:spPr>
          <a:xfrm>
            <a:off x="2103120" y="5861304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PWG-C1-0047-RAW</a:t>
            </a:r>
            <a:endParaRPr lang="en-US" sz="535" dirty="0"/>
          </a:p>
        </p:txBody>
      </p:sp>
      <p:sp>
        <p:nvSpPr>
          <p:cNvPr id="231" name="Shape 221"/>
          <p:cNvSpPr/>
          <p:nvPr/>
        </p:nvSpPr>
        <p:spPr>
          <a:xfrm>
            <a:off x="3337560" y="5833872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32" name="Text 222"/>
          <p:cNvSpPr/>
          <p:nvPr/>
        </p:nvSpPr>
        <p:spPr>
          <a:xfrm>
            <a:off x="3355848" y="5861304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233" name="Shape 223"/>
          <p:cNvSpPr/>
          <p:nvPr/>
        </p:nvSpPr>
        <p:spPr>
          <a:xfrm>
            <a:off x="3739896" y="5833872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34" name="Text 224"/>
          <p:cNvSpPr/>
          <p:nvPr/>
        </p:nvSpPr>
        <p:spPr>
          <a:xfrm>
            <a:off x="3758184" y="5861304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235" name="Shape 225"/>
          <p:cNvSpPr/>
          <p:nvPr/>
        </p:nvSpPr>
        <p:spPr>
          <a:xfrm>
            <a:off x="4151376" y="5833872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36" name="Text 226"/>
          <p:cNvSpPr/>
          <p:nvPr/>
        </p:nvSpPr>
        <p:spPr>
          <a:xfrm>
            <a:off x="4169664" y="5861304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535" dirty="0"/>
          </a:p>
        </p:txBody>
      </p:sp>
      <p:sp>
        <p:nvSpPr>
          <p:cNvPr id="237" name="Shape 227"/>
          <p:cNvSpPr/>
          <p:nvPr/>
        </p:nvSpPr>
        <p:spPr>
          <a:xfrm>
            <a:off x="4590288" y="5833872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38" name="Text 228"/>
          <p:cNvSpPr/>
          <p:nvPr/>
        </p:nvSpPr>
        <p:spPr>
          <a:xfrm>
            <a:off x="4608576" y="5861304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39" name="Shape 229"/>
          <p:cNvSpPr/>
          <p:nvPr/>
        </p:nvSpPr>
        <p:spPr>
          <a:xfrm>
            <a:off x="5084064" y="5833872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0" name="Text 230"/>
          <p:cNvSpPr/>
          <p:nvPr/>
        </p:nvSpPr>
        <p:spPr>
          <a:xfrm>
            <a:off x="5102352" y="5861304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41" name="Shape 231"/>
          <p:cNvSpPr/>
          <p:nvPr/>
        </p:nvSpPr>
        <p:spPr>
          <a:xfrm>
            <a:off x="5660136" y="5833872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2" name="Text 232"/>
          <p:cNvSpPr/>
          <p:nvPr/>
        </p:nvSpPr>
        <p:spPr>
          <a:xfrm>
            <a:off x="5678424" y="5861304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535" dirty="0"/>
          </a:p>
        </p:txBody>
      </p:sp>
      <p:sp>
        <p:nvSpPr>
          <p:cNvPr id="243" name="Shape 233"/>
          <p:cNvSpPr/>
          <p:nvPr/>
        </p:nvSpPr>
        <p:spPr>
          <a:xfrm>
            <a:off x="6437376" y="5833872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4" name="Text 234"/>
          <p:cNvSpPr/>
          <p:nvPr/>
        </p:nvSpPr>
        <p:spPr>
          <a:xfrm>
            <a:off x="6455664" y="5861304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 / cut cable</a:t>
            </a:r>
            <a:endParaRPr lang="en-US" sz="535" dirty="0"/>
          </a:p>
        </p:txBody>
      </p:sp>
      <p:sp>
        <p:nvSpPr>
          <p:cNvPr id="245" name="Shape 235"/>
          <p:cNvSpPr/>
          <p:nvPr/>
        </p:nvSpPr>
        <p:spPr>
          <a:xfrm>
            <a:off x="2084832" y="5980176"/>
            <a:ext cx="12527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6" name="Text 236"/>
          <p:cNvSpPr/>
          <p:nvPr/>
        </p:nvSpPr>
        <p:spPr>
          <a:xfrm>
            <a:off x="2103120" y="6007608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PWG-C1-0033-WSMP-0300</a:t>
            </a:r>
            <a:endParaRPr lang="en-US" sz="535" dirty="0"/>
          </a:p>
        </p:txBody>
      </p:sp>
      <p:sp>
        <p:nvSpPr>
          <p:cNvPr id="247" name="Shape 237"/>
          <p:cNvSpPr/>
          <p:nvPr/>
        </p:nvSpPr>
        <p:spPr>
          <a:xfrm>
            <a:off x="3337560" y="5980176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8" name="Text 238"/>
          <p:cNvSpPr/>
          <p:nvPr/>
        </p:nvSpPr>
        <p:spPr>
          <a:xfrm>
            <a:off x="3355848" y="6007608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535" dirty="0"/>
          </a:p>
        </p:txBody>
      </p:sp>
      <p:sp>
        <p:nvSpPr>
          <p:cNvPr id="249" name="Shape 239"/>
          <p:cNvSpPr/>
          <p:nvPr/>
        </p:nvSpPr>
        <p:spPr>
          <a:xfrm>
            <a:off x="3739896" y="5980176"/>
            <a:ext cx="4114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0" name="Text 240"/>
          <p:cNvSpPr/>
          <p:nvPr/>
        </p:nvSpPr>
        <p:spPr>
          <a:xfrm>
            <a:off x="3758184" y="6007608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0.033</a:t>
            </a:r>
            <a:endParaRPr lang="en-US" sz="535" dirty="0"/>
          </a:p>
        </p:txBody>
      </p:sp>
      <p:sp>
        <p:nvSpPr>
          <p:cNvPr id="251" name="Shape 241"/>
          <p:cNvSpPr/>
          <p:nvPr/>
        </p:nvSpPr>
        <p:spPr>
          <a:xfrm>
            <a:off x="4151376" y="5980176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2" name="Text 242"/>
          <p:cNvSpPr/>
          <p:nvPr/>
        </p:nvSpPr>
        <p:spPr>
          <a:xfrm>
            <a:off x="4169664" y="6007608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</a:t>
            </a:r>
            <a:endParaRPr lang="en-US" sz="535" dirty="0"/>
          </a:p>
        </p:txBody>
      </p:sp>
      <p:sp>
        <p:nvSpPr>
          <p:cNvPr id="253" name="Shape 243"/>
          <p:cNvSpPr/>
          <p:nvPr/>
        </p:nvSpPr>
        <p:spPr>
          <a:xfrm>
            <a:off x="4590288" y="5980176"/>
            <a:ext cx="49377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4" name="Text 244"/>
          <p:cNvSpPr/>
          <p:nvPr/>
        </p:nvSpPr>
        <p:spPr>
          <a:xfrm>
            <a:off x="4608576" y="6007608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255" name="Shape 245"/>
          <p:cNvSpPr/>
          <p:nvPr/>
        </p:nvSpPr>
        <p:spPr>
          <a:xfrm>
            <a:off x="5084064" y="5980176"/>
            <a:ext cx="5760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6" name="Text 246"/>
          <p:cNvSpPr/>
          <p:nvPr/>
        </p:nvSpPr>
        <p:spPr>
          <a:xfrm>
            <a:off x="5102352" y="6007608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57" name="Shape 247"/>
          <p:cNvSpPr/>
          <p:nvPr/>
        </p:nvSpPr>
        <p:spPr>
          <a:xfrm>
            <a:off x="5660136" y="5980176"/>
            <a:ext cx="7772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8" name="Text 248"/>
          <p:cNvSpPr/>
          <p:nvPr/>
        </p:nvSpPr>
        <p:spPr>
          <a:xfrm>
            <a:off x="5678424" y="6007608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535" dirty="0"/>
          </a:p>
        </p:txBody>
      </p:sp>
      <p:sp>
        <p:nvSpPr>
          <p:cNvPr id="259" name="Shape 249"/>
          <p:cNvSpPr/>
          <p:nvPr/>
        </p:nvSpPr>
        <p:spPr>
          <a:xfrm>
            <a:off x="6437376" y="5980176"/>
            <a:ext cx="122529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0" name="Text 250"/>
          <p:cNvSpPr/>
          <p:nvPr/>
        </p:nvSpPr>
        <p:spPr>
          <a:xfrm>
            <a:off x="6455664" y="6007608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OD</a:t>
            </a:r>
            <a:endParaRPr lang="en-US" sz="535" dirty="0"/>
          </a:p>
        </p:txBody>
      </p:sp>
      <p:sp>
        <p:nvSpPr>
          <p:cNvPr id="261" name="Shape 251"/>
          <p:cNvSpPr/>
          <p:nvPr/>
        </p:nvSpPr>
        <p:spPr>
          <a:xfrm>
            <a:off x="2084832" y="6126480"/>
            <a:ext cx="5577840" cy="0"/>
          </a:xfrm>
          <a:prstGeom prst="line">
            <a:avLst/>
          </a:prstGeom>
          <a:noFill/>
          <a:ln w="12700">
            <a:solidFill>
              <a:srgbClr val="75A95E"/>
            </a:solidFill>
            <a:prstDash val="solid"/>
          </a:ln>
        </p:spPr>
      </p:sp>
      <p:sp>
        <p:nvSpPr>
          <p:cNvPr id="262" name="Shape 252"/>
          <p:cNvSpPr/>
          <p:nvPr/>
        </p:nvSpPr>
        <p:spPr>
          <a:xfrm>
            <a:off x="2084832" y="6126480"/>
            <a:ext cx="1252728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3" name="Text 253"/>
          <p:cNvSpPr/>
          <p:nvPr/>
        </p:nvSpPr>
        <p:spPr>
          <a:xfrm>
            <a:off x="2103120" y="6153912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PWG-P1-0047-SMAM-0300</a:t>
            </a:r>
            <a:endParaRPr lang="en-US" sz="535" dirty="0"/>
          </a:p>
        </p:txBody>
      </p:sp>
      <p:sp>
        <p:nvSpPr>
          <p:cNvPr id="264" name="Shape 254"/>
          <p:cNvSpPr/>
          <p:nvPr/>
        </p:nvSpPr>
        <p:spPr>
          <a:xfrm>
            <a:off x="3337560" y="6126480"/>
            <a:ext cx="40233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5" name="Text 255"/>
          <p:cNvSpPr/>
          <p:nvPr/>
        </p:nvSpPr>
        <p:spPr>
          <a:xfrm>
            <a:off x="3355848" y="6153912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35" dirty="0"/>
          </a:p>
        </p:txBody>
      </p:sp>
      <p:sp>
        <p:nvSpPr>
          <p:cNvPr id="266" name="Shape 256"/>
          <p:cNvSpPr/>
          <p:nvPr/>
        </p:nvSpPr>
        <p:spPr>
          <a:xfrm>
            <a:off x="3739896" y="6126480"/>
            <a:ext cx="41148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7" name="Text 257"/>
          <p:cNvSpPr/>
          <p:nvPr/>
        </p:nvSpPr>
        <p:spPr>
          <a:xfrm>
            <a:off x="3758184" y="6153912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268" name="Shape 258"/>
          <p:cNvSpPr/>
          <p:nvPr/>
        </p:nvSpPr>
        <p:spPr>
          <a:xfrm>
            <a:off x="4151376" y="6126480"/>
            <a:ext cx="43891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9" name="Text 259"/>
          <p:cNvSpPr/>
          <p:nvPr/>
        </p:nvSpPr>
        <p:spPr>
          <a:xfrm>
            <a:off x="4169664" y="6153912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270" name="Shape 260"/>
          <p:cNvSpPr/>
          <p:nvPr/>
        </p:nvSpPr>
        <p:spPr>
          <a:xfrm>
            <a:off x="4590288" y="6126480"/>
            <a:ext cx="49377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1" name="Text 261"/>
          <p:cNvSpPr/>
          <p:nvPr/>
        </p:nvSpPr>
        <p:spPr>
          <a:xfrm>
            <a:off x="4608576" y="6153912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272" name="Shape 262"/>
          <p:cNvSpPr/>
          <p:nvPr/>
        </p:nvSpPr>
        <p:spPr>
          <a:xfrm>
            <a:off x="5084064" y="6126480"/>
            <a:ext cx="57607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3" name="Text 263"/>
          <p:cNvSpPr/>
          <p:nvPr/>
        </p:nvSpPr>
        <p:spPr>
          <a:xfrm>
            <a:off x="5102352" y="6153912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274" name="Shape 264"/>
          <p:cNvSpPr/>
          <p:nvPr/>
        </p:nvSpPr>
        <p:spPr>
          <a:xfrm>
            <a:off x="5660136" y="6126480"/>
            <a:ext cx="77724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5" name="Text 265"/>
          <p:cNvSpPr/>
          <p:nvPr/>
        </p:nvSpPr>
        <p:spPr>
          <a:xfrm>
            <a:off x="5678424" y="6153912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35" dirty="0"/>
          </a:p>
        </p:txBody>
      </p:sp>
      <p:sp>
        <p:nvSpPr>
          <p:cNvPr id="276" name="Shape 266"/>
          <p:cNvSpPr/>
          <p:nvPr/>
        </p:nvSpPr>
        <p:spPr>
          <a:xfrm>
            <a:off x="6437376" y="6126480"/>
            <a:ext cx="122529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7" name="Text 267"/>
          <p:cNvSpPr/>
          <p:nvPr/>
        </p:nvSpPr>
        <p:spPr>
          <a:xfrm>
            <a:off x="6455664" y="6153912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performance</a:t>
            </a:r>
            <a:endParaRPr lang="en-US" sz="535" dirty="0"/>
          </a:p>
        </p:txBody>
      </p:sp>
      <p:sp>
        <p:nvSpPr>
          <p:cNvPr id="278" name="Shape 268"/>
          <p:cNvSpPr/>
          <p:nvPr/>
        </p:nvSpPr>
        <p:spPr>
          <a:xfrm>
            <a:off x="2084832" y="6272784"/>
            <a:ext cx="1252728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9" name="Text 269"/>
          <p:cNvSpPr/>
          <p:nvPr/>
        </p:nvSpPr>
        <p:spPr>
          <a:xfrm>
            <a:off x="2103120" y="6300216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PWG-P1-0047-SMAM-0300-LN</a:t>
            </a:r>
            <a:endParaRPr lang="en-US" sz="535" dirty="0"/>
          </a:p>
        </p:txBody>
      </p:sp>
      <p:sp>
        <p:nvSpPr>
          <p:cNvPr id="280" name="Shape 270"/>
          <p:cNvSpPr/>
          <p:nvPr/>
        </p:nvSpPr>
        <p:spPr>
          <a:xfrm>
            <a:off x="3337560" y="6272784"/>
            <a:ext cx="40233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1" name="Text 271"/>
          <p:cNvSpPr/>
          <p:nvPr/>
        </p:nvSpPr>
        <p:spPr>
          <a:xfrm>
            <a:off x="3355848" y="6300216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35" dirty="0"/>
          </a:p>
        </p:txBody>
      </p:sp>
      <p:sp>
        <p:nvSpPr>
          <p:cNvPr id="282" name="Shape 272"/>
          <p:cNvSpPr/>
          <p:nvPr/>
        </p:nvSpPr>
        <p:spPr>
          <a:xfrm>
            <a:off x="3739896" y="6272784"/>
            <a:ext cx="41148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3" name="Text 273"/>
          <p:cNvSpPr/>
          <p:nvPr/>
        </p:nvSpPr>
        <p:spPr>
          <a:xfrm>
            <a:off x="3758184" y="6300216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284" name="Shape 274"/>
          <p:cNvSpPr/>
          <p:nvPr/>
        </p:nvSpPr>
        <p:spPr>
          <a:xfrm>
            <a:off x="4151376" y="6272784"/>
            <a:ext cx="43891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5" name="Text 275"/>
          <p:cNvSpPr/>
          <p:nvPr/>
        </p:nvSpPr>
        <p:spPr>
          <a:xfrm>
            <a:off x="4169664" y="6300216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286" name="Shape 276"/>
          <p:cNvSpPr/>
          <p:nvPr/>
        </p:nvSpPr>
        <p:spPr>
          <a:xfrm>
            <a:off x="4590288" y="6272784"/>
            <a:ext cx="49377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7" name="Text 277"/>
          <p:cNvSpPr/>
          <p:nvPr/>
        </p:nvSpPr>
        <p:spPr>
          <a:xfrm>
            <a:off x="4608576" y="6300216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288" name="Shape 278"/>
          <p:cNvSpPr/>
          <p:nvPr/>
        </p:nvSpPr>
        <p:spPr>
          <a:xfrm>
            <a:off x="5084064" y="6272784"/>
            <a:ext cx="57607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9" name="Text 279"/>
          <p:cNvSpPr/>
          <p:nvPr/>
        </p:nvSpPr>
        <p:spPr>
          <a:xfrm>
            <a:off x="5102352" y="6300216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535" dirty="0"/>
          </a:p>
        </p:txBody>
      </p:sp>
      <p:sp>
        <p:nvSpPr>
          <p:cNvPr id="290" name="Shape 280"/>
          <p:cNvSpPr/>
          <p:nvPr/>
        </p:nvSpPr>
        <p:spPr>
          <a:xfrm>
            <a:off x="5660136" y="6272784"/>
            <a:ext cx="77724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1" name="Text 281"/>
          <p:cNvSpPr/>
          <p:nvPr/>
        </p:nvSpPr>
        <p:spPr>
          <a:xfrm>
            <a:off x="5678424" y="6300216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35" dirty="0"/>
          </a:p>
        </p:txBody>
      </p:sp>
      <p:sp>
        <p:nvSpPr>
          <p:cNvPr id="292" name="Shape 282"/>
          <p:cNvSpPr/>
          <p:nvPr/>
        </p:nvSpPr>
        <p:spPr>
          <a:xfrm>
            <a:off x="6437376" y="6272784"/>
            <a:ext cx="122529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3" name="Text 283"/>
          <p:cNvSpPr/>
          <p:nvPr/>
        </p:nvSpPr>
        <p:spPr>
          <a:xfrm>
            <a:off x="6455664" y="6300216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 option</a:t>
            </a:r>
            <a:endParaRPr lang="en-US" sz="535" dirty="0"/>
          </a:p>
        </p:txBody>
      </p:sp>
      <p:sp>
        <p:nvSpPr>
          <p:cNvPr id="294" name="Shape 284"/>
          <p:cNvSpPr/>
          <p:nvPr/>
        </p:nvSpPr>
        <p:spPr>
          <a:xfrm>
            <a:off x="2084832" y="6419088"/>
            <a:ext cx="1252728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5" name="Text 285"/>
          <p:cNvSpPr/>
          <p:nvPr/>
        </p:nvSpPr>
        <p:spPr>
          <a:xfrm>
            <a:off x="2103120" y="6446520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PWG-P1-0047-SMPM-0300</a:t>
            </a:r>
            <a:endParaRPr lang="en-US" sz="535" dirty="0"/>
          </a:p>
        </p:txBody>
      </p:sp>
      <p:sp>
        <p:nvSpPr>
          <p:cNvPr id="296" name="Shape 286"/>
          <p:cNvSpPr/>
          <p:nvPr/>
        </p:nvSpPr>
        <p:spPr>
          <a:xfrm>
            <a:off x="3337560" y="6419088"/>
            <a:ext cx="40233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7" name="Text 287"/>
          <p:cNvSpPr/>
          <p:nvPr/>
        </p:nvSpPr>
        <p:spPr>
          <a:xfrm>
            <a:off x="3355848" y="6446520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35" dirty="0"/>
          </a:p>
        </p:txBody>
      </p:sp>
      <p:sp>
        <p:nvSpPr>
          <p:cNvPr id="298" name="Shape 288"/>
          <p:cNvSpPr/>
          <p:nvPr/>
        </p:nvSpPr>
        <p:spPr>
          <a:xfrm>
            <a:off x="3739896" y="6419088"/>
            <a:ext cx="41148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9" name="Text 289"/>
          <p:cNvSpPr/>
          <p:nvPr/>
        </p:nvSpPr>
        <p:spPr>
          <a:xfrm>
            <a:off x="3758184" y="6446520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00" name="Shape 290"/>
          <p:cNvSpPr/>
          <p:nvPr/>
        </p:nvSpPr>
        <p:spPr>
          <a:xfrm>
            <a:off x="4151376" y="6419088"/>
            <a:ext cx="43891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1" name="Text 291"/>
          <p:cNvSpPr/>
          <p:nvPr/>
        </p:nvSpPr>
        <p:spPr>
          <a:xfrm>
            <a:off x="4169664" y="6446520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SMPM</a:t>
            </a:r>
            <a:endParaRPr lang="en-US" sz="535" dirty="0"/>
          </a:p>
        </p:txBody>
      </p:sp>
      <p:sp>
        <p:nvSpPr>
          <p:cNvPr id="302" name="Shape 292"/>
          <p:cNvSpPr/>
          <p:nvPr/>
        </p:nvSpPr>
        <p:spPr>
          <a:xfrm>
            <a:off x="4590288" y="6419088"/>
            <a:ext cx="49377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3" name="Text 293"/>
          <p:cNvSpPr/>
          <p:nvPr/>
        </p:nvSpPr>
        <p:spPr>
          <a:xfrm>
            <a:off x="4608576" y="644652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304" name="Shape 294"/>
          <p:cNvSpPr/>
          <p:nvPr/>
        </p:nvSpPr>
        <p:spPr>
          <a:xfrm>
            <a:off x="5084064" y="6419088"/>
            <a:ext cx="57607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5" name="Text 295"/>
          <p:cNvSpPr/>
          <p:nvPr/>
        </p:nvSpPr>
        <p:spPr>
          <a:xfrm>
            <a:off x="5102352" y="6446520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06" name="Shape 296"/>
          <p:cNvSpPr/>
          <p:nvPr/>
        </p:nvSpPr>
        <p:spPr>
          <a:xfrm>
            <a:off x="5660136" y="6419088"/>
            <a:ext cx="77724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7" name="Text 297"/>
          <p:cNvSpPr/>
          <p:nvPr/>
        </p:nvSpPr>
        <p:spPr>
          <a:xfrm>
            <a:off x="5678424" y="6446520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35" dirty="0"/>
          </a:p>
        </p:txBody>
      </p:sp>
      <p:sp>
        <p:nvSpPr>
          <p:cNvPr id="308" name="Shape 298"/>
          <p:cNvSpPr/>
          <p:nvPr/>
        </p:nvSpPr>
        <p:spPr>
          <a:xfrm>
            <a:off x="6437376" y="6419088"/>
            <a:ext cx="122529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9" name="Text 299"/>
          <p:cNvSpPr/>
          <p:nvPr/>
        </p:nvSpPr>
        <p:spPr>
          <a:xfrm>
            <a:off x="6455664" y="6446520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interface</a:t>
            </a:r>
            <a:endParaRPr lang="en-US" sz="535" dirty="0"/>
          </a:p>
        </p:txBody>
      </p:sp>
      <p:sp>
        <p:nvSpPr>
          <p:cNvPr id="310" name="Shape 300"/>
          <p:cNvSpPr/>
          <p:nvPr/>
        </p:nvSpPr>
        <p:spPr>
          <a:xfrm>
            <a:off x="2084832" y="6565392"/>
            <a:ext cx="1252728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1" name="Text 301"/>
          <p:cNvSpPr/>
          <p:nvPr/>
        </p:nvSpPr>
        <p:spPr>
          <a:xfrm>
            <a:off x="2103120" y="6592824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PWG-P1-0047-WSMP-0300</a:t>
            </a:r>
            <a:endParaRPr lang="en-US" sz="535" dirty="0"/>
          </a:p>
        </p:txBody>
      </p:sp>
      <p:sp>
        <p:nvSpPr>
          <p:cNvPr id="312" name="Shape 302"/>
          <p:cNvSpPr/>
          <p:nvPr/>
        </p:nvSpPr>
        <p:spPr>
          <a:xfrm>
            <a:off x="3337560" y="6565392"/>
            <a:ext cx="40233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3" name="Text 303"/>
          <p:cNvSpPr/>
          <p:nvPr/>
        </p:nvSpPr>
        <p:spPr>
          <a:xfrm>
            <a:off x="3355848" y="6592824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35" dirty="0"/>
          </a:p>
        </p:txBody>
      </p:sp>
      <p:sp>
        <p:nvSpPr>
          <p:cNvPr id="314" name="Shape 304"/>
          <p:cNvSpPr/>
          <p:nvPr/>
        </p:nvSpPr>
        <p:spPr>
          <a:xfrm>
            <a:off x="3739896" y="6565392"/>
            <a:ext cx="41148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5" name="Text 305"/>
          <p:cNvSpPr/>
          <p:nvPr/>
        </p:nvSpPr>
        <p:spPr>
          <a:xfrm>
            <a:off x="3758184" y="6592824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16" name="Shape 306"/>
          <p:cNvSpPr/>
          <p:nvPr/>
        </p:nvSpPr>
        <p:spPr>
          <a:xfrm>
            <a:off x="4151376" y="6565392"/>
            <a:ext cx="43891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7" name="Text 307"/>
          <p:cNvSpPr/>
          <p:nvPr/>
        </p:nvSpPr>
        <p:spPr>
          <a:xfrm>
            <a:off x="4169664" y="6592824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</a:t>
            </a:r>
            <a:endParaRPr lang="en-US" sz="535" dirty="0"/>
          </a:p>
        </p:txBody>
      </p:sp>
      <p:sp>
        <p:nvSpPr>
          <p:cNvPr id="318" name="Shape 308"/>
          <p:cNvSpPr/>
          <p:nvPr/>
        </p:nvSpPr>
        <p:spPr>
          <a:xfrm>
            <a:off x="4590288" y="6565392"/>
            <a:ext cx="49377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9" name="Text 309"/>
          <p:cNvSpPr/>
          <p:nvPr/>
        </p:nvSpPr>
        <p:spPr>
          <a:xfrm>
            <a:off x="4608576" y="6592824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320" name="Shape 310"/>
          <p:cNvSpPr/>
          <p:nvPr/>
        </p:nvSpPr>
        <p:spPr>
          <a:xfrm>
            <a:off x="5084064" y="6565392"/>
            <a:ext cx="57607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21" name="Text 311"/>
          <p:cNvSpPr/>
          <p:nvPr/>
        </p:nvSpPr>
        <p:spPr>
          <a:xfrm>
            <a:off x="5102352" y="6592824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22" name="Shape 312"/>
          <p:cNvSpPr/>
          <p:nvPr/>
        </p:nvSpPr>
        <p:spPr>
          <a:xfrm>
            <a:off x="5660136" y="6565392"/>
            <a:ext cx="77724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23" name="Text 313"/>
          <p:cNvSpPr/>
          <p:nvPr/>
        </p:nvSpPr>
        <p:spPr>
          <a:xfrm>
            <a:off x="5678424" y="6592824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35" dirty="0"/>
          </a:p>
        </p:txBody>
      </p:sp>
      <p:sp>
        <p:nvSpPr>
          <p:cNvPr id="324" name="Shape 314"/>
          <p:cNvSpPr/>
          <p:nvPr/>
        </p:nvSpPr>
        <p:spPr>
          <a:xfrm>
            <a:off x="6437376" y="6565392"/>
            <a:ext cx="122529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25" name="Text 315"/>
          <p:cNvSpPr/>
          <p:nvPr/>
        </p:nvSpPr>
        <p:spPr>
          <a:xfrm>
            <a:off x="6455664" y="6592824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density</a:t>
            </a:r>
            <a:endParaRPr lang="en-US" sz="535" dirty="0"/>
          </a:p>
        </p:txBody>
      </p:sp>
      <p:sp>
        <p:nvSpPr>
          <p:cNvPr id="326" name="Shape 316"/>
          <p:cNvSpPr/>
          <p:nvPr/>
        </p:nvSpPr>
        <p:spPr>
          <a:xfrm>
            <a:off x="2084832" y="6711696"/>
            <a:ext cx="1252728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27" name="Text 317"/>
          <p:cNvSpPr/>
          <p:nvPr/>
        </p:nvSpPr>
        <p:spPr>
          <a:xfrm>
            <a:off x="2103120" y="6739128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PWG-P1-0047-RAW</a:t>
            </a:r>
            <a:endParaRPr lang="en-US" sz="535" dirty="0"/>
          </a:p>
        </p:txBody>
      </p:sp>
      <p:sp>
        <p:nvSpPr>
          <p:cNvPr id="328" name="Shape 318"/>
          <p:cNvSpPr/>
          <p:nvPr/>
        </p:nvSpPr>
        <p:spPr>
          <a:xfrm>
            <a:off x="3337560" y="6711696"/>
            <a:ext cx="40233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29" name="Text 319"/>
          <p:cNvSpPr/>
          <p:nvPr/>
        </p:nvSpPr>
        <p:spPr>
          <a:xfrm>
            <a:off x="3355848" y="6739128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35" dirty="0"/>
          </a:p>
        </p:txBody>
      </p:sp>
      <p:sp>
        <p:nvSpPr>
          <p:cNvPr id="330" name="Shape 320"/>
          <p:cNvSpPr/>
          <p:nvPr/>
        </p:nvSpPr>
        <p:spPr>
          <a:xfrm>
            <a:off x="3739896" y="6711696"/>
            <a:ext cx="41148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1" name="Text 321"/>
          <p:cNvSpPr/>
          <p:nvPr/>
        </p:nvSpPr>
        <p:spPr>
          <a:xfrm>
            <a:off x="3758184" y="6739128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32" name="Shape 322"/>
          <p:cNvSpPr/>
          <p:nvPr/>
        </p:nvSpPr>
        <p:spPr>
          <a:xfrm>
            <a:off x="4151376" y="6711696"/>
            <a:ext cx="43891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3" name="Text 323"/>
          <p:cNvSpPr/>
          <p:nvPr/>
        </p:nvSpPr>
        <p:spPr>
          <a:xfrm>
            <a:off x="4169664" y="6739128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535" dirty="0"/>
          </a:p>
        </p:txBody>
      </p:sp>
      <p:sp>
        <p:nvSpPr>
          <p:cNvPr id="334" name="Shape 324"/>
          <p:cNvSpPr/>
          <p:nvPr/>
        </p:nvSpPr>
        <p:spPr>
          <a:xfrm>
            <a:off x="4590288" y="6711696"/>
            <a:ext cx="49377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5" name="Text 325"/>
          <p:cNvSpPr/>
          <p:nvPr/>
        </p:nvSpPr>
        <p:spPr>
          <a:xfrm>
            <a:off x="4608576" y="6739128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36" name="Shape 326"/>
          <p:cNvSpPr/>
          <p:nvPr/>
        </p:nvSpPr>
        <p:spPr>
          <a:xfrm>
            <a:off x="5084064" y="6711696"/>
            <a:ext cx="576072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7" name="Text 327"/>
          <p:cNvSpPr/>
          <p:nvPr/>
        </p:nvSpPr>
        <p:spPr>
          <a:xfrm>
            <a:off x="5102352" y="6739128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38" name="Shape 328"/>
          <p:cNvSpPr/>
          <p:nvPr/>
        </p:nvSpPr>
        <p:spPr>
          <a:xfrm>
            <a:off x="5660136" y="6711696"/>
            <a:ext cx="777240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9" name="Text 329"/>
          <p:cNvSpPr/>
          <p:nvPr/>
        </p:nvSpPr>
        <p:spPr>
          <a:xfrm>
            <a:off x="5678424" y="6739128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35" dirty="0"/>
          </a:p>
        </p:txBody>
      </p:sp>
      <p:sp>
        <p:nvSpPr>
          <p:cNvPr id="340" name="Shape 330"/>
          <p:cNvSpPr/>
          <p:nvPr/>
        </p:nvSpPr>
        <p:spPr>
          <a:xfrm>
            <a:off x="6437376" y="6711696"/>
            <a:ext cx="1225296" cy="146304"/>
          </a:xfrm>
          <a:prstGeom prst="rect">
            <a:avLst/>
          </a:prstGeom>
          <a:solidFill>
            <a:srgbClr val="EAF6EE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1" name="Text 331"/>
          <p:cNvSpPr/>
          <p:nvPr/>
        </p:nvSpPr>
        <p:spPr>
          <a:xfrm>
            <a:off x="6455664" y="6739128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cable</a:t>
            </a:r>
            <a:endParaRPr lang="en-US" sz="535" dirty="0"/>
          </a:p>
        </p:txBody>
      </p:sp>
      <p:sp>
        <p:nvSpPr>
          <p:cNvPr id="342" name="Shape 332"/>
          <p:cNvSpPr/>
          <p:nvPr/>
        </p:nvSpPr>
        <p:spPr>
          <a:xfrm>
            <a:off x="2084832" y="6858000"/>
            <a:ext cx="5577840" cy="0"/>
          </a:xfrm>
          <a:prstGeom prst="line">
            <a:avLst/>
          </a:prstGeom>
          <a:noFill/>
          <a:ln w="12700">
            <a:solidFill>
              <a:srgbClr val="4D13B8"/>
            </a:solidFill>
            <a:prstDash val="solid"/>
          </a:ln>
        </p:spPr>
      </p:sp>
      <p:sp>
        <p:nvSpPr>
          <p:cNvPr id="343" name="Shape 333"/>
          <p:cNvSpPr/>
          <p:nvPr/>
        </p:nvSpPr>
        <p:spPr>
          <a:xfrm>
            <a:off x="2084832" y="6858000"/>
            <a:ext cx="1252728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4" name="Text 334"/>
          <p:cNvSpPr/>
          <p:nvPr/>
        </p:nvSpPr>
        <p:spPr>
          <a:xfrm>
            <a:off x="2103120" y="6885432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PWG-X1-0047-SMAM-0300</a:t>
            </a:r>
            <a:endParaRPr lang="en-US" sz="535" dirty="0"/>
          </a:p>
        </p:txBody>
      </p:sp>
      <p:sp>
        <p:nvSpPr>
          <p:cNvPr id="345" name="Shape 335"/>
          <p:cNvSpPr/>
          <p:nvPr/>
        </p:nvSpPr>
        <p:spPr>
          <a:xfrm>
            <a:off x="3337560" y="6858000"/>
            <a:ext cx="40233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6" name="Text 336"/>
          <p:cNvSpPr/>
          <p:nvPr/>
        </p:nvSpPr>
        <p:spPr>
          <a:xfrm>
            <a:off x="3355848" y="6885432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535" dirty="0"/>
          </a:p>
        </p:txBody>
      </p:sp>
      <p:sp>
        <p:nvSpPr>
          <p:cNvPr id="347" name="Shape 337"/>
          <p:cNvSpPr/>
          <p:nvPr/>
        </p:nvSpPr>
        <p:spPr>
          <a:xfrm>
            <a:off x="3739896" y="6858000"/>
            <a:ext cx="41148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8" name="Text 338"/>
          <p:cNvSpPr/>
          <p:nvPr/>
        </p:nvSpPr>
        <p:spPr>
          <a:xfrm>
            <a:off x="3758184" y="6885432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49" name="Shape 339"/>
          <p:cNvSpPr/>
          <p:nvPr/>
        </p:nvSpPr>
        <p:spPr>
          <a:xfrm>
            <a:off x="4151376" y="6858000"/>
            <a:ext cx="43891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0" name="Text 340"/>
          <p:cNvSpPr/>
          <p:nvPr/>
        </p:nvSpPr>
        <p:spPr>
          <a:xfrm>
            <a:off x="4169664" y="6885432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</a:t>
            </a:r>
            <a:endParaRPr lang="en-US" sz="535" dirty="0"/>
          </a:p>
        </p:txBody>
      </p:sp>
      <p:sp>
        <p:nvSpPr>
          <p:cNvPr id="351" name="Shape 341"/>
          <p:cNvSpPr/>
          <p:nvPr/>
        </p:nvSpPr>
        <p:spPr>
          <a:xfrm>
            <a:off x="4590288" y="6858000"/>
            <a:ext cx="49377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2" name="Text 342"/>
          <p:cNvSpPr/>
          <p:nvPr/>
        </p:nvSpPr>
        <p:spPr>
          <a:xfrm>
            <a:off x="4608576" y="6885432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353" name="Shape 343"/>
          <p:cNvSpPr/>
          <p:nvPr/>
        </p:nvSpPr>
        <p:spPr>
          <a:xfrm>
            <a:off x="5084064" y="6858000"/>
            <a:ext cx="57607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4" name="Text 344"/>
          <p:cNvSpPr/>
          <p:nvPr/>
        </p:nvSpPr>
        <p:spPr>
          <a:xfrm>
            <a:off x="5102352" y="6885432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55" name="Shape 345"/>
          <p:cNvSpPr/>
          <p:nvPr/>
        </p:nvSpPr>
        <p:spPr>
          <a:xfrm>
            <a:off x="5660136" y="6858000"/>
            <a:ext cx="77724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6" name="Text 346"/>
          <p:cNvSpPr/>
          <p:nvPr/>
        </p:nvSpPr>
        <p:spPr>
          <a:xfrm>
            <a:off x="5678424" y="6885432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535" dirty="0"/>
          </a:p>
        </p:txBody>
      </p:sp>
      <p:sp>
        <p:nvSpPr>
          <p:cNvPr id="357" name="Shape 347"/>
          <p:cNvSpPr/>
          <p:nvPr/>
        </p:nvSpPr>
        <p:spPr>
          <a:xfrm>
            <a:off x="6437376" y="6858000"/>
            <a:ext cx="122529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8" name="Text 348"/>
          <p:cNvSpPr/>
          <p:nvPr/>
        </p:nvSpPr>
        <p:spPr>
          <a:xfrm>
            <a:off x="6455664" y="6885432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</a:t>
            </a:r>
            <a:endParaRPr lang="en-US" sz="535" dirty="0"/>
          </a:p>
        </p:txBody>
      </p:sp>
      <p:sp>
        <p:nvSpPr>
          <p:cNvPr id="359" name="Shape 349"/>
          <p:cNvSpPr/>
          <p:nvPr/>
        </p:nvSpPr>
        <p:spPr>
          <a:xfrm>
            <a:off x="2084832" y="7004304"/>
            <a:ext cx="1252728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0" name="Text 350"/>
          <p:cNvSpPr/>
          <p:nvPr/>
        </p:nvSpPr>
        <p:spPr>
          <a:xfrm>
            <a:off x="2103120" y="7031736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PWG-X1-0047-WSMP-0300</a:t>
            </a:r>
            <a:endParaRPr lang="en-US" sz="535" dirty="0"/>
          </a:p>
        </p:txBody>
      </p:sp>
      <p:sp>
        <p:nvSpPr>
          <p:cNvPr id="361" name="Shape 351"/>
          <p:cNvSpPr/>
          <p:nvPr/>
        </p:nvSpPr>
        <p:spPr>
          <a:xfrm>
            <a:off x="3337560" y="7004304"/>
            <a:ext cx="40233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2" name="Text 352"/>
          <p:cNvSpPr/>
          <p:nvPr/>
        </p:nvSpPr>
        <p:spPr>
          <a:xfrm>
            <a:off x="3355848" y="7031736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535" dirty="0"/>
          </a:p>
        </p:txBody>
      </p:sp>
      <p:sp>
        <p:nvSpPr>
          <p:cNvPr id="363" name="Shape 353"/>
          <p:cNvSpPr/>
          <p:nvPr/>
        </p:nvSpPr>
        <p:spPr>
          <a:xfrm>
            <a:off x="3739896" y="7004304"/>
            <a:ext cx="41148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4" name="Text 354"/>
          <p:cNvSpPr/>
          <p:nvPr/>
        </p:nvSpPr>
        <p:spPr>
          <a:xfrm>
            <a:off x="3758184" y="7031736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65" name="Shape 355"/>
          <p:cNvSpPr/>
          <p:nvPr/>
        </p:nvSpPr>
        <p:spPr>
          <a:xfrm>
            <a:off x="4151376" y="7004304"/>
            <a:ext cx="43891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6" name="Text 356"/>
          <p:cNvSpPr/>
          <p:nvPr/>
        </p:nvSpPr>
        <p:spPr>
          <a:xfrm>
            <a:off x="4169664" y="7031736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</a:t>
            </a:r>
            <a:endParaRPr lang="en-US" sz="535" dirty="0"/>
          </a:p>
        </p:txBody>
      </p:sp>
      <p:sp>
        <p:nvSpPr>
          <p:cNvPr id="367" name="Shape 357"/>
          <p:cNvSpPr/>
          <p:nvPr/>
        </p:nvSpPr>
        <p:spPr>
          <a:xfrm>
            <a:off x="4590288" y="7004304"/>
            <a:ext cx="49377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8" name="Text 358"/>
          <p:cNvSpPr/>
          <p:nvPr/>
        </p:nvSpPr>
        <p:spPr>
          <a:xfrm>
            <a:off x="4608576" y="7031736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35" dirty="0"/>
          </a:p>
        </p:txBody>
      </p:sp>
      <p:sp>
        <p:nvSpPr>
          <p:cNvPr id="369" name="Shape 359"/>
          <p:cNvSpPr/>
          <p:nvPr/>
        </p:nvSpPr>
        <p:spPr>
          <a:xfrm>
            <a:off x="5084064" y="7004304"/>
            <a:ext cx="57607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0" name="Text 360"/>
          <p:cNvSpPr/>
          <p:nvPr/>
        </p:nvSpPr>
        <p:spPr>
          <a:xfrm>
            <a:off x="5102352" y="7031736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71" name="Shape 361"/>
          <p:cNvSpPr/>
          <p:nvPr/>
        </p:nvSpPr>
        <p:spPr>
          <a:xfrm>
            <a:off x="5660136" y="7004304"/>
            <a:ext cx="77724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2" name="Text 362"/>
          <p:cNvSpPr/>
          <p:nvPr/>
        </p:nvSpPr>
        <p:spPr>
          <a:xfrm>
            <a:off x="5678424" y="7031736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535" dirty="0"/>
          </a:p>
        </p:txBody>
      </p:sp>
      <p:sp>
        <p:nvSpPr>
          <p:cNvPr id="373" name="Shape 363"/>
          <p:cNvSpPr/>
          <p:nvPr/>
        </p:nvSpPr>
        <p:spPr>
          <a:xfrm>
            <a:off x="6437376" y="7004304"/>
            <a:ext cx="122529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4" name="Text 364"/>
          <p:cNvSpPr/>
          <p:nvPr/>
        </p:nvSpPr>
        <p:spPr>
          <a:xfrm>
            <a:off x="6455664" y="7031736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</a:t>
            </a:r>
            <a:endParaRPr lang="en-US" sz="535" dirty="0"/>
          </a:p>
        </p:txBody>
      </p:sp>
      <p:sp>
        <p:nvSpPr>
          <p:cNvPr id="375" name="Shape 365"/>
          <p:cNvSpPr/>
          <p:nvPr/>
        </p:nvSpPr>
        <p:spPr>
          <a:xfrm>
            <a:off x="2084832" y="7150608"/>
            <a:ext cx="1252728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6" name="Text 366"/>
          <p:cNvSpPr/>
          <p:nvPr/>
        </p:nvSpPr>
        <p:spPr>
          <a:xfrm>
            <a:off x="2103120" y="7178040"/>
            <a:ext cx="1216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PWG-X1-0047-RAW</a:t>
            </a:r>
            <a:endParaRPr lang="en-US" sz="535" dirty="0"/>
          </a:p>
        </p:txBody>
      </p:sp>
      <p:sp>
        <p:nvSpPr>
          <p:cNvPr id="377" name="Shape 367"/>
          <p:cNvSpPr/>
          <p:nvPr/>
        </p:nvSpPr>
        <p:spPr>
          <a:xfrm>
            <a:off x="3337560" y="7150608"/>
            <a:ext cx="40233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8" name="Text 368"/>
          <p:cNvSpPr/>
          <p:nvPr/>
        </p:nvSpPr>
        <p:spPr>
          <a:xfrm>
            <a:off x="3355848" y="7178040"/>
            <a:ext cx="365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535" dirty="0"/>
          </a:p>
        </p:txBody>
      </p:sp>
      <p:sp>
        <p:nvSpPr>
          <p:cNvPr id="379" name="Shape 369"/>
          <p:cNvSpPr/>
          <p:nvPr/>
        </p:nvSpPr>
        <p:spPr>
          <a:xfrm>
            <a:off x="3739896" y="7150608"/>
            <a:ext cx="41148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80" name="Text 370"/>
          <p:cNvSpPr/>
          <p:nvPr/>
        </p:nvSpPr>
        <p:spPr>
          <a:xfrm>
            <a:off x="3758184" y="7178040"/>
            <a:ext cx="3749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</a:t>
            </a:r>
            <a:endParaRPr lang="en-US" sz="535" dirty="0"/>
          </a:p>
        </p:txBody>
      </p:sp>
      <p:sp>
        <p:nvSpPr>
          <p:cNvPr id="381" name="Shape 371"/>
          <p:cNvSpPr/>
          <p:nvPr/>
        </p:nvSpPr>
        <p:spPr>
          <a:xfrm>
            <a:off x="4151376" y="7150608"/>
            <a:ext cx="43891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82" name="Text 372"/>
          <p:cNvSpPr/>
          <p:nvPr/>
        </p:nvSpPr>
        <p:spPr>
          <a:xfrm>
            <a:off x="4169664" y="7178040"/>
            <a:ext cx="4023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535" dirty="0"/>
          </a:p>
        </p:txBody>
      </p:sp>
      <p:sp>
        <p:nvSpPr>
          <p:cNvPr id="383" name="Shape 373"/>
          <p:cNvSpPr/>
          <p:nvPr/>
        </p:nvSpPr>
        <p:spPr>
          <a:xfrm>
            <a:off x="4590288" y="7150608"/>
            <a:ext cx="49377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84" name="Text 374"/>
          <p:cNvSpPr/>
          <p:nvPr/>
        </p:nvSpPr>
        <p:spPr>
          <a:xfrm>
            <a:off x="4608576" y="717804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85" name="Shape 375"/>
          <p:cNvSpPr/>
          <p:nvPr/>
        </p:nvSpPr>
        <p:spPr>
          <a:xfrm>
            <a:off x="5084064" y="7150608"/>
            <a:ext cx="576072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86" name="Text 376"/>
          <p:cNvSpPr/>
          <p:nvPr/>
        </p:nvSpPr>
        <p:spPr>
          <a:xfrm>
            <a:off x="5102352" y="7178040"/>
            <a:ext cx="5394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535" dirty="0"/>
          </a:p>
        </p:txBody>
      </p:sp>
      <p:sp>
        <p:nvSpPr>
          <p:cNvPr id="387" name="Shape 377"/>
          <p:cNvSpPr/>
          <p:nvPr/>
        </p:nvSpPr>
        <p:spPr>
          <a:xfrm>
            <a:off x="5660136" y="7150608"/>
            <a:ext cx="777240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88" name="Text 378"/>
          <p:cNvSpPr/>
          <p:nvPr/>
        </p:nvSpPr>
        <p:spPr>
          <a:xfrm>
            <a:off x="5678424" y="7178040"/>
            <a:ext cx="7406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5" b="1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535" dirty="0"/>
          </a:p>
        </p:txBody>
      </p:sp>
      <p:sp>
        <p:nvSpPr>
          <p:cNvPr id="389" name="Shape 379"/>
          <p:cNvSpPr/>
          <p:nvPr/>
        </p:nvSpPr>
        <p:spPr>
          <a:xfrm>
            <a:off x="6437376" y="7150608"/>
            <a:ext cx="1225296" cy="146304"/>
          </a:xfrm>
          <a:prstGeom prst="rect">
            <a:avLst/>
          </a:prstGeom>
          <a:solidFill>
            <a:srgbClr val="F3E9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0" name="Text 380"/>
          <p:cNvSpPr/>
          <p:nvPr/>
        </p:nvSpPr>
        <p:spPr>
          <a:xfrm>
            <a:off x="6455664" y="7178040"/>
            <a:ext cx="1188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</a:t>
            </a:r>
            <a:endParaRPr lang="en-US" sz="535" dirty="0"/>
          </a:p>
        </p:txBody>
      </p:sp>
      <p:sp>
        <p:nvSpPr>
          <p:cNvPr id="391" name="Text 381"/>
          <p:cNvSpPr/>
          <p:nvPr/>
        </p:nvSpPr>
        <p:spPr>
          <a:xfrm>
            <a:off x="2103120" y="7370064"/>
            <a:ext cx="544068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note: PWG-C1-0047-SMAM-0300 is the only currently manufactured catalog model. All other models shown are prospective, planned, in development, future, or R&amp;D.</a:t>
            </a:r>
            <a:endParaRPr lang="en-US" sz="570" dirty="0"/>
          </a:p>
        </p:txBody>
      </p:sp>
      <p:sp>
        <p:nvSpPr>
          <p:cNvPr id="392" name="Shape 382"/>
          <p:cNvSpPr/>
          <p:nvPr/>
        </p:nvSpPr>
        <p:spPr>
          <a:xfrm>
            <a:off x="201168" y="8302752"/>
            <a:ext cx="1828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3" name="Shape 383"/>
          <p:cNvSpPr/>
          <p:nvPr/>
        </p:nvSpPr>
        <p:spPr>
          <a:xfrm>
            <a:off x="2048256" y="8302752"/>
            <a:ext cx="1828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4" name="Shape 384"/>
          <p:cNvSpPr/>
          <p:nvPr/>
        </p:nvSpPr>
        <p:spPr>
          <a:xfrm>
            <a:off x="3895344" y="8302752"/>
            <a:ext cx="1828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5" name="Shape 385"/>
          <p:cNvSpPr/>
          <p:nvPr/>
        </p:nvSpPr>
        <p:spPr>
          <a:xfrm>
            <a:off x="5742432" y="8302752"/>
            <a:ext cx="1828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6" name="Text 386"/>
          <p:cNvSpPr/>
          <p:nvPr/>
        </p:nvSpPr>
        <p:spPr>
          <a:xfrm>
            <a:off x="256032" y="8412480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APPLICATIONS</a:t>
            </a:r>
            <a:endParaRPr lang="en-US" sz="850" dirty="0"/>
          </a:p>
        </p:txBody>
      </p:sp>
      <p:sp>
        <p:nvSpPr>
          <p:cNvPr id="397" name="Text 387"/>
          <p:cNvSpPr/>
          <p:nvPr/>
        </p:nvSpPr>
        <p:spPr>
          <a:xfrm>
            <a:off x="256032" y="8650224"/>
            <a:ext cx="274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000" dirty="0"/>
          </a:p>
        </p:txBody>
      </p:sp>
      <p:sp>
        <p:nvSpPr>
          <p:cNvPr id="398" name="Text 388"/>
          <p:cNvSpPr/>
          <p:nvPr/>
        </p:nvSpPr>
        <p:spPr>
          <a:xfrm>
            <a:off x="640080" y="8631936"/>
            <a:ext cx="1143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Quantum computing systems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Cryogenic test and measurement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Superconducting qubit control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Cryogenic RF and microwave links</a:t>
            </a:r>
            <a:endParaRPr lang="en-US" sz="56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sensing and instrumentation</a:t>
            </a:r>
            <a:endParaRPr lang="en-US" sz="560" dirty="0"/>
          </a:p>
        </p:txBody>
      </p:sp>
      <p:sp>
        <p:nvSpPr>
          <p:cNvPr id="399" name="Text 389"/>
          <p:cNvSpPr/>
          <p:nvPr/>
        </p:nvSpPr>
        <p:spPr>
          <a:xfrm>
            <a:off x="2212848" y="8412480"/>
            <a:ext cx="1371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SPECIFICATIONS*</a:t>
            </a:r>
            <a:endParaRPr lang="en-US" sz="850" dirty="0"/>
          </a:p>
        </p:txBody>
      </p:sp>
      <p:sp>
        <p:nvSpPr>
          <p:cNvPr id="400" name="Text 390"/>
          <p:cNvSpPr/>
          <p:nvPr/>
        </p:nvSpPr>
        <p:spPr>
          <a:xfrm>
            <a:off x="2103120" y="8650224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♨</a:t>
            </a:r>
            <a:endParaRPr lang="en-US" sz="2000" dirty="0"/>
          </a:p>
        </p:txBody>
      </p:sp>
      <p:sp>
        <p:nvSpPr>
          <p:cNvPr id="401" name="Text 391"/>
          <p:cNvSpPr/>
          <p:nvPr/>
        </p:nvSpPr>
        <p:spPr>
          <a:xfrm>
            <a:off x="2450592" y="8631936"/>
            <a:ext cx="13350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Impedance                         50 Ω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range                DC – 50+ GHz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temperature       10 mK – 300 K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lengths             150 / 200 / 250 /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300 / 330 mm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diameter (typ.)        0.033 – 0.047 in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options          SMAM, SMPM, WSMP,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mixed ends, RAW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*Specifications are representative targets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may vary by model and configuration.</a:t>
            </a:r>
            <a:endParaRPr lang="en-US" sz="515" dirty="0"/>
          </a:p>
        </p:txBody>
      </p:sp>
      <p:sp>
        <p:nvSpPr>
          <p:cNvPr id="402" name="Text 392"/>
          <p:cNvSpPr/>
          <p:nvPr/>
        </p:nvSpPr>
        <p:spPr>
          <a:xfrm>
            <a:off x="4069080" y="8412480"/>
            <a:ext cx="1234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LENGTHS</a:t>
            </a:r>
            <a:endParaRPr lang="en-US" sz="850" dirty="0"/>
          </a:p>
        </p:txBody>
      </p:sp>
      <p:pic>
        <p:nvPicPr>
          <p:cNvPr id="403" name="Image 8" descr="/mnt/data/length_co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6512" y="8650224"/>
            <a:ext cx="694944" cy="384048"/>
          </a:xfrm>
          <a:prstGeom prst="rect">
            <a:avLst/>
          </a:prstGeom>
        </p:spPr>
      </p:pic>
      <p:sp>
        <p:nvSpPr>
          <p:cNvPr id="404" name="Text 393"/>
          <p:cNvSpPr/>
          <p:nvPr/>
        </p:nvSpPr>
        <p:spPr>
          <a:xfrm>
            <a:off x="4846320" y="8622792"/>
            <a:ext cx="685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0150 = 150 mm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0200 = 200 mm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0250 = 250 mm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0300 = 300 mm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0330 = 330 mm</a:t>
            </a: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= custom length</a:t>
            </a:r>
            <a:endParaRPr lang="en-US" sz="600" dirty="0"/>
          </a:p>
        </p:txBody>
      </p:sp>
      <p:sp>
        <p:nvSpPr>
          <p:cNvPr id="405" name="Text 394"/>
          <p:cNvSpPr/>
          <p:nvPr/>
        </p:nvSpPr>
        <p:spPr>
          <a:xfrm>
            <a:off x="4096512" y="9217152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lengths use the actual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length in millimeters,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0742.</a:t>
            </a:r>
            <a:endParaRPr lang="en-US" sz="550" dirty="0"/>
          </a:p>
        </p:txBody>
      </p:sp>
      <p:sp>
        <p:nvSpPr>
          <p:cNvPr id="406" name="Text 395"/>
          <p:cNvSpPr/>
          <p:nvPr/>
        </p:nvSpPr>
        <p:spPr>
          <a:xfrm rot="-1500000">
            <a:off x="5440680" y="9244584"/>
            <a:ext cx="2560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▱</a:t>
            </a:r>
            <a:endParaRPr lang="en-US" sz="1600" dirty="0"/>
          </a:p>
        </p:txBody>
      </p:sp>
      <p:sp>
        <p:nvSpPr>
          <p:cNvPr id="407" name="Text 396"/>
          <p:cNvSpPr/>
          <p:nvPr/>
        </p:nvSpPr>
        <p:spPr>
          <a:xfrm>
            <a:off x="5879592" y="8412480"/>
            <a:ext cx="14630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HIGH-PURITY CONSTRUCTION</a:t>
            </a:r>
            <a:endParaRPr lang="en-US" sz="850" dirty="0"/>
          </a:p>
        </p:txBody>
      </p:sp>
      <p:sp>
        <p:nvSpPr>
          <p:cNvPr id="408" name="Text 397"/>
          <p:cNvSpPr/>
          <p:nvPr/>
        </p:nvSpPr>
        <p:spPr>
          <a:xfrm>
            <a:off x="5897880" y="866851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600" dirty="0"/>
          </a:p>
        </p:txBody>
      </p:sp>
      <p:sp>
        <p:nvSpPr>
          <p:cNvPr id="409" name="Text 398"/>
          <p:cNvSpPr/>
          <p:nvPr/>
        </p:nvSpPr>
        <p:spPr>
          <a:xfrm>
            <a:off x="6199632" y="8631936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are manufactured under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processes with a focus on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cleanliness, materials compatibility and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performance at cryogenic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0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temperatures.</a:t>
            </a:r>
            <a:endParaRPr lang="en-US" sz="550" dirty="0"/>
          </a:p>
        </p:txBody>
      </p:sp>
      <p:pic>
        <p:nvPicPr>
          <p:cNvPr id="410" name="Image 9" descr="/mnt/data/bottom_cab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9144000"/>
            <a:ext cx="1261872" cy="493776"/>
          </a:xfrm>
          <a:prstGeom prst="rect">
            <a:avLst/>
          </a:prstGeom>
        </p:spPr>
      </p:pic>
      <p:sp>
        <p:nvSpPr>
          <p:cNvPr id="411" name="Shape 399"/>
          <p:cNvSpPr/>
          <p:nvPr/>
        </p:nvSpPr>
        <p:spPr>
          <a:xfrm>
            <a:off x="109728" y="9637776"/>
            <a:ext cx="7552944" cy="347472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412" name="Text 400"/>
          <p:cNvSpPr/>
          <p:nvPr/>
        </p:nvSpPr>
        <p:spPr>
          <a:xfrm>
            <a:off x="237744" y="9701784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PWG</a:t>
            </a:r>
            <a:endParaRPr lang="en-US" sz="1900" dirty="0"/>
          </a:p>
        </p:txBody>
      </p:sp>
      <p:sp>
        <p:nvSpPr>
          <p:cNvPr id="413" name="Text 401"/>
          <p:cNvSpPr/>
          <p:nvPr/>
        </p:nvSpPr>
        <p:spPr>
          <a:xfrm>
            <a:off x="896112" y="9701784"/>
            <a:ext cx="8412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PHONONIC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WAVEGUIDES LLC</a:t>
            </a:r>
            <a:endParaRPr lang="en-US" sz="720" dirty="0"/>
          </a:p>
        </p:txBody>
      </p:sp>
      <p:sp>
        <p:nvSpPr>
          <p:cNvPr id="414" name="Shape 402"/>
          <p:cNvSpPr/>
          <p:nvPr/>
        </p:nvSpPr>
        <p:spPr>
          <a:xfrm>
            <a:off x="1892808" y="9674352"/>
            <a:ext cx="0" cy="2743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5" name="Text 403"/>
          <p:cNvSpPr/>
          <p:nvPr/>
        </p:nvSpPr>
        <p:spPr>
          <a:xfrm>
            <a:off x="2029968" y="9692640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info@pwgquantum.com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 www.pwgquantum.com</a:t>
            </a:r>
            <a:endParaRPr lang="en-US" sz="650" dirty="0"/>
          </a:p>
        </p:txBody>
      </p:sp>
      <p:sp>
        <p:nvSpPr>
          <p:cNvPr id="416" name="Shape 404"/>
          <p:cNvSpPr/>
          <p:nvPr/>
        </p:nvSpPr>
        <p:spPr>
          <a:xfrm>
            <a:off x="3611880" y="9674352"/>
            <a:ext cx="0" cy="2743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7" name="Text 405"/>
          <p:cNvSpPr/>
          <p:nvPr/>
        </p:nvSpPr>
        <p:spPr>
          <a:xfrm>
            <a:off x="3767328" y="9701784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SOLUTIONS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COOLER TOMORROW.</a:t>
            </a:r>
            <a:endParaRPr lang="en-US" sz="730" dirty="0"/>
          </a:p>
        </p:txBody>
      </p:sp>
      <p:sp>
        <p:nvSpPr>
          <p:cNvPr id="418" name="Shape 406"/>
          <p:cNvSpPr/>
          <p:nvPr/>
        </p:nvSpPr>
        <p:spPr>
          <a:xfrm>
            <a:off x="5321808" y="9674352"/>
            <a:ext cx="0" cy="2743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9" name="Text 407"/>
          <p:cNvSpPr/>
          <p:nvPr/>
        </p:nvSpPr>
        <p:spPr>
          <a:xfrm>
            <a:off x="5468112" y="971092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PWG LLC. All rights reserved.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and availability subject to change.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7552944" cy="502920"/>
          </a:xfrm>
          <a:prstGeom prst="rect">
            <a:avLst/>
          </a:prstGeom>
          <a:solidFill>
            <a:srgbClr val="082B5F"/>
          </a:solidFill>
          <a:ln w="12700">
            <a:solidFill>
              <a:srgbClr val="08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bitmap assets from source catalog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6675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images below are separate editable/movable PowerPoint picture objects.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6" name="Image 0" descr="/mnt/data/cable_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50876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cable rendering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6240" y="114300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9" name="Image 1" descr="/mnt/data/cable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1508760" cy="868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932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cable rendering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265176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2" name="Image 2" descr="/mnt/data/cable_x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1508760" cy="868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0" y="309067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 cable rendering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206240" y="265176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5" name="Image 3" descr="/mnt/data/conn_sm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834640"/>
            <a:ext cx="868680" cy="59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309067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SMAM connector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02920" y="416052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8" name="Image 4" descr="/mnt/data/conn_smp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868680" cy="5943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286000" y="459943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SMPM connector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206240" y="416052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1" name="Image 5" descr="/mnt/data/conn_ws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343400"/>
            <a:ext cx="868680" cy="5943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989320" y="459943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WSMP connector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02920" y="56692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4" name="Image 6" descr="/mnt/data/conn_mix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852160"/>
            <a:ext cx="868680" cy="5943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0" y="610819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connector pair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4206240" y="56692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7" name="Image 7" descr="/mnt/data/reel_ra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5852160"/>
            <a:ext cx="868680" cy="5943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989320" y="610819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reel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502920" y="717804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30" name="Image 8" descr="/mnt/data/length_co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7360920"/>
            <a:ext cx="868680" cy="5943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286000" y="761695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length coil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4206240" y="717804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33" name="Image 9" descr="/mnt/data/bottom_cab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7360920"/>
            <a:ext cx="1554480" cy="5943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989320" y="7616952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4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High-purity cable image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Phononic Waveguides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PWG Cryogenic Phononic Cables Catalog</dc:title>
  <dc:subject>PWG Prospective Product Catalog</dc:subject>
  <dc:creator>OpenAI</dc:creator>
  <cp:lastModifiedBy>OpenAI</cp:lastModifiedBy>
  <cp:revision>1</cp:revision>
  <dcterms:created xsi:type="dcterms:W3CDTF">2026-09-09T22:11:10Z</dcterms:created>
  <dcterms:modified xsi:type="dcterms:W3CDTF">2026-09-09T22:11:10Z</dcterms:modified>
</cp:coreProperties>
</file>